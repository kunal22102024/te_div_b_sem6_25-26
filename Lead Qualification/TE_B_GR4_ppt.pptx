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71" r:id="rId3"/>
    <p:sldId id="262" r:id="rId4"/>
    <p:sldId id="277" r:id="rId5"/>
    <p:sldId id="266" r:id="rId6"/>
    <p:sldId id="275" r:id="rId7"/>
    <p:sldId id="267" r:id="rId8"/>
    <p:sldId id="276" r:id="rId9"/>
    <p:sldId id="257" r:id="rId10"/>
    <p:sldId id="268" r:id="rId11"/>
    <p:sldId id="278" r:id="rId12"/>
    <p:sldId id="269" r:id="rId13"/>
    <p:sldId id="273"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59" autoAdjust="0"/>
    <p:restoredTop sz="94704" autoAdjust="0"/>
  </p:normalViewPr>
  <p:slideViewPr>
    <p:cSldViewPr snapToGrid="0">
      <p:cViewPr varScale="1">
        <p:scale>
          <a:sx n="88" d="100"/>
          <a:sy n="88" d="100"/>
        </p:scale>
        <p:origin x="744" y="8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4E2805-659C-4049-A025-C06A6733765B}" type="datetimeFigureOut">
              <a:rPr lang="en-IN" smtClean="0"/>
              <a:t>20-03-2026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949EDA-2974-440D-ADAF-2A92B86580AB}" type="slidenum">
              <a:rPr lang="en-IN" smtClean="0"/>
              <a:t>‹#›</a:t>
            </a:fld>
            <a:endParaRPr lang="en-IN"/>
          </a:p>
        </p:txBody>
      </p:sp>
    </p:spTree>
    <p:extLst>
      <p:ext uri="{BB962C8B-B14F-4D97-AF65-F5344CB8AC3E}">
        <p14:creationId xmlns:p14="http://schemas.microsoft.com/office/powerpoint/2010/main" val="1581974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E8512-A82D-4984-B553-E3AF99D1D6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8368999-F30E-4A04-A9E0-4150E7D167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6BE3D1-9449-463E-8A3B-529F3DBAA402}"/>
              </a:ext>
            </a:extLst>
          </p:cNvPr>
          <p:cNvSpPr>
            <a:spLocks noGrp="1"/>
          </p:cNvSpPr>
          <p:nvPr>
            <p:ph type="dt" sz="half" idx="10"/>
          </p:nvPr>
        </p:nvSpPr>
        <p:spPr/>
        <p:txBody>
          <a:bodyPr/>
          <a:lstStyle/>
          <a:p>
            <a:fld id="{9F986761-4C0F-48FE-8C76-8423FB6EFDC8}" type="datetime1">
              <a:rPr lang="en-IN" smtClean="0"/>
              <a:t>20-03-2026</a:t>
            </a:fld>
            <a:endParaRPr lang="en-IN"/>
          </a:p>
        </p:txBody>
      </p:sp>
      <p:sp>
        <p:nvSpPr>
          <p:cNvPr id="5" name="Footer Placeholder 4">
            <a:extLst>
              <a:ext uri="{FF2B5EF4-FFF2-40B4-BE49-F238E27FC236}">
                <a16:creationId xmlns:a16="http://schemas.microsoft.com/office/drawing/2014/main" id="{A639B0EB-B7D0-48C4-90B3-B37A61F519B0}"/>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IN" dirty="0"/>
              <a:t>Mini Project Topic Approval</a:t>
            </a:r>
          </a:p>
        </p:txBody>
      </p:sp>
      <p:sp>
        <p:nvSpPr>
          <p:cNvPr id="6" name="Slide Number Placeholder 5">
            <a:extLst>
              <a:ext uri="{FF2B5EF4-FFF2-40B4-BE49-F238E27FC236}">
                <a16:creationId xmlns:a16="http://schemas.microsoft.com/office/drawing/2014/main" id="{9B9B7E62-C61F-4449-A976-BD29523C5C46}"/>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1E2AE893-BA06-4F67-8C19-46525B8E0FBB}" type="slidenum">
              <a:rPr lang="en-IN" smtClean="0"/>
              <a:pPr/>
              <a:t>‹#›</a:t>
            </a:fld>
            <a:endParaRPr lang="en-IN" dirty="0"/>
          </a:p>
        </p:txBody>
      </p:sp>
    </p:spTree>
    <p:extLst>
      <p:ext uri="{BB962C8B-B14F-4D97-AF65-F5344CB8AC3E}">
        <p14:creationId xmlns:p14="http://schemas.microsoft.com/office/powerpoint/2010/main" val="392541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D6242-091F-449C-A1B4-938978D83AA2}"/>
              </a:ext>
            </a:extLst>
          </p:cNvPr>
          <p:cNvSpPr>
            <a:spLocks noGrp="1"/>
          </p:cNvSpPr>
          <p:nvPr>
            <p:ph type="title"/>
          </p:nvPr>
        </p:nvSpPr>
        <p:spPr>
          <a:xfrm>
            <a:off x="838200" y="136517"/>
            <a:ext cx="10515600" cy="1092213"/>
          </a:xfrm>
        </p:spPr>
        <p:txBody>
          <a:bodyPr>
            <a:normAutofit/>
          </a:bodyPr>
          <a:lstStyle>
            <a:lvl1pPr>
              <a:defRPr sz="3200" b="1">
                <a:latin typeface="Times New Roman" panose="02020603050405020304" pitchFamily="18" charset="0"/>
                <a:cs typeface="Times New Roman" panose="02020603050405020304" pitchFamily="18" charset="0"/>
              </a:defRPr>
            </a:lvl1p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3096425A-A42D-4509-B515-2D51013B8520}"/>
              </a:ext>
            </a:extLst>
          </p:cNvPr>
          <p:cNvSpPr>
            <a:spLocks noGrp="1"/>
          </p:cNvSpPr>
          <p:nvPr>
            <p:ph idx="1"/>
          </p:nvPr>
        </p:nvSpPr>
        <p:spPr>
          <a:xfrm>
            <a:off x="838200" y="1228730"/>
            <a:ext cx="10515600" cy="4948233"/>
          </a:xfrm>
        </p:spPr>
        <p:txBody>
          <a:bodyPr>
            <a:normAutofit/>
          </a:bodyPr>
          <a:lstStyle>
            <a:lvl1pPr>
              <a:lnSpc>
                <a:spcPts val="2880"/>
              </a:lnSpc>
              <a:defRPr sz="2400">
                <a:latin typeface="Times New Roman" panose="02020603050405020304" pitchFamily="18" charset="0"/>
                <a:cs typeface="Times New Roman" panose="02020603050405020304" pitchFamily="18" charset="0"/>
              </a:defRPr>
            </a:lvl1pPr>
            <a:lvl2pPr marL="432000" indent="-228600">
              <a:lnSpc>
                <a:spcPts val="2880"/>
              </a:lnSpc>
              <a:buFont typeface="Courier New" panose="02070309020205020404" pitchFamily="49" charset="0"/>
              <a:buChar char="o"/>
              <a:defRPr sz="2000">
                <a:latin typeface="Times New Roman" panose="02020603050405020304" pitchFamily="18" charset="0"/>
                <a:cs typeface="Times New Roman" panose="02020603050405020304" pitchFamily="18" charset="0"/>
              </a:defRPr>
            </a:lvl2pPr>
            <a:lvl3pPr>
              <a:lnSpc>
                <a:spcPts val="2880"/>
              </a:lnSpc>
              <a:defRPr sz="1800">
                <a:latin typeface="Times New Roman" panose="02020603050405020304" pitchFamily="18" charset="0"/>
                <a:cs typeface="Times New Roman" panose="02020603050405020304" pitchFamily="18" charset="0"/>
              </a:defRPr>
            </a:lvl3pPr>
            <a:lvl4pPr>
              <a:lnSpc>
                <a:spcPts val="2880"/>
              </a:lnSpc>
              <a:defRPr sz="1600">
                <a:latin typeface="Times New Roman" panose="02020603050405020304" pitchFamily="18" charset="0"/>
                <a:cs typeface="Times New Roman" panose="02020603050405020304" pitchFamily="18" charset="0"/>
              </a:defRPr>
            </a:lvl4pPr>
            <a:lvl5pPr>
              <a:lnSpc>
                <a:spcPts val="2880"/>
              </a:lnSpc>
              <a:defRPr sz="1600">
                <a:latin typeface="Times New Roman" panose="02020603050405020304" pitchFamily="18" charset="0"/>
                <a:cs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C1EBB509-4540-4E93-AA58-85E51656FAEC}"/>
              </a:ext>
            </a:extLst>
          </p:cNvPr>
          <p:cNvSpPr>
            <a:spLocks noGrp="1"/>
          </p:cNvSpPr>
          <p:nvPr>
            <p:ph type="dt" sz="half" idx="10"/>
          </p:nvPr>
        </p:nvSpPr>
        <p:spPr/>
        <p:txBody>
          <a:bodyPr/>
          <a:lstStyle/>
          <a:p>
            <a:fld id="{234DF01F-5776-4F79-A698-1B36F534561A}" type="datetime1">
              <a:rPr lang="en-IN" smtClean="0"/>
              <a:t>20-03-2026</a:t>
            </a:fld>
            <a:endParaRPr lang="en-IN"/>
          </a:p>
        </p:txBody>
      </p:sp>
      <p:sp>
        <p:nvSpPr>
          <p:cNvPr id="5" name="Footer Placeholder 4">
            <a:extLst>
              <a:ext uri="{FF2B5EF4-FFF2-40B4-BE49-F238E27FC236}">
                <a16:creationId xmlns:a16="http://schemas.microsoft.com/office/drawing/2014/main" id="{E219B8BF-AF22-4319-9B72-B64A51A4BD83}"/>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IN"/>
              <a:t>Mini Project Topic Approval</a:t>
            </a:r>
          </a:p>
        </p:txBody>
      </p:sp>
      <p:sp>
        <p:nvSpPr>
          <p:cNvPr id="6" name="Slide Number Placeholder 5">
            <a:extLst>
              <a:ext uri="{FF2B5EF4-FFF2-40B4-BE49-F238E27FC236}">
                <a16:creationId xmlns:a16="http://schemas.microsoft.com/office/drawing/2014/main" id="{86223BF1-675C-4B4B-A122-5DB11F6CA291}"/>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1E2AE893-BA06-4F67-8C19-46525B8E0FBB}" type="slidenum">
              <a:rPr lang="en-IN" smtClean="0"/>
              <a:pPr/>
              <a:t>‹#›</a:t>
            </a:fld>
            <a:endParaRPr lang="en-IN"/>
          </a:p>
        </p:txBody>
      </p:sp>
    </p:spTree>
    <p:extLst>
      <p:ext uri="{BB962C8B-B14F-4D97-AF65-F5344CB8AC3E}">
        <p14:creationId xmlns:p14="http://schemas.microsoft.com/office/powerpoint/2010/main" val="143137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F741D-242F-4DD8-8ACF-B39E45199B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AF1F32-2D68-46E1-9E21-BE43A6262C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38ABCA9-1438-49CC-93A2-6A8DA39A3373}"/>
              </a:ext>
            </a:extLst>
          </p:cNvPr>
          <p:cNvSpPr>
            <a:spLocks noGrp="1"/>
          </p:cNvSpPr>
          <p:nvPr>
            <p:ph type="dt" sz="half" idx="10"/>
          </p:nvPr>
        </p:nvSpPr>
        <p:spPr/>
        <p:txBody>
          <a:bodyPr/>
          <a:lstStyle/>
          <a:p>
            <a:fld id="{DFC20949-540A-45CB-B2FE-2E650E036A19}" type="datetime1">
              <a:rPr lang="en-IN" smtClean="0"/>
              <a:t>20-03-2026</a:t>
            </a:fld>
            <a:endParaRPr lang="en-IN"/>
          </a:p>
        </p:txBody>
      </p:sp>
      <p:sp>
        <p:nvSpPr>
          <p:cNvPr id="5" name="Footer Placeholder 4">
            <a:extLst>
              <a:ext uri="{FF2B5EF4-FFF2-40B4-BE49-F238E27FC236}">
                <a16:creationId xmlns:a16="http://schemas.microsoft.com/office/drawing/2014/main" id="{9B5BC973-DA06-400C-9147-AEEC78942256}"/>
              </a:ext>
            </a:extLst>
          </p:cNvPr>
          <p:cNvSpPr>
            <a:spLocks noGrp="1"/>
          </p:cNvSpPr>
          <p:nvPr>
            <p:ph type="ftr" sz="quarter" idx="11"/>
          </p:nvPr>
        </p:nvSpPr>
        <p:spPr/>
        <p:txBody>
          <a:bodyPr/>
          <a:lstStyle/>
          <a:p>
            <a:r>
              <a:rPr lang="en-IN"/>
              <a:t>Mini Project Topic Approval</a:t>
            </a:r>
          </a:p>
        </p:txBody>
      </p:sp>
      <p:sp>
        <p:nvSpPr>
          <p:cNvPr id="6" name="Slide Number Placeholder 5">
            <a:extLst>
              <a:ext uri="{FF2B5EF4-FFF2-40B4-BE49-F238E27FC236}">
                <a16:creationId xmlns:a16="http://schemas.microsoft.com/office/drawing/2014/main" id="{736FC47C-EAF5-4145-927D-556A6056A42C}"/>
              </a:ext>
            </a:extLst>
          </p:cNvPr>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2220364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79CE-73AF-4A65-8F2A-E38D2CA095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0ADAF8-4366-4BEA-9041-88603E5F7B3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70860A5-D7DD-48F2-BC15-144C7592C5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C0731D-2FCB-4F68-B2C7-BE66A2E2926F}"/>
              </a:ext>
            </a:extLst>
          </p:cNvPr>
          <p:cNvSpPr>
            <a:spLocks noGrp="1"/>
          </p:cNvSpPr>
          <p:nvPr>
            <p:ph type="dt" sz="half" idx="10"/>
          </p:nvPr>
        </p:nvSpPr>
        <p:spPr/>
        <p:txBody>
          <a:bodyPr/>
          <a:lstStyle/>
          <a:p>
            <a:fld id="{E754F29A-481D-4972-BD1A-721E641D5314}" type="datetime1">
              <a:rPr lang="en-IN" smtClean="0"/>
              <a:t>20-03-2026</a:t>
            </a:fld>
            <a:endParaRPr lang="en-IN"/>
          </a:p>
        </p:txBody>
      </p:sp>
      <p:sp>
        <p:nvSpPr>
          <p:cNvPr id="6" name="Footer Placeholder 5">
            <a:extLst>
              <a:ext uri="{FF2B5EF4-FFF2-40B4-BE49-F238E27FC236}">
                <a16:creationId xmlns:a16="http://schemas.microsoft.com/office/drawing/2014/main" id="{5493CF6C-F341-42CF-965F-3E9908EF7C98}"/>
              </a:ext>
            </a:extLst>
          </p:cNvPr>
          <p:cNvSpPr>
            <a:spLocks noGrp="1"/>
          </p:cNvSpPr>
          <p:nvPr>
            <p:ph type="ftr" sz="quarter" idx="11"/>
          </p:nvPr>
        </p:nvSpPr>
        <p:spPr/>
        <p:txBody>
          <a:bodyPr/>
          <a:lstStyle/>
          <a:p>
            <a:r>
              <a:rPr lang="en-IN"/>
              <a:t>Mini Project Topic Approval</a:t>
            </a:r>
          </a:p>
        </p:txBody>
      </p:sp>
      <p:sp>
        <p:nvSpPr>
          <p:cNvPr id="7" name="Slide Number Placeholder 6">
            <a:extLst>
              <a:ext uri="{FF2B5EF4-FFF2-40B4-BE49-F238E27FC236}">
                <a16:creationId xmlns:a16="http://schemas.microsoft.com/office/drawing/2014/main" id="{21B68428-2FF9-43C7-9A62-D6810EF591FC}"/>
              </a:ext>
            </a:extLst>
          </p:cNvPr>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1237667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D8F11-D661-4D7C-B659-DA6176A0D5F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902A87-0885-4B96-9AED-0B6E3BB7A7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85B794E-C910-4195-8A30-413CF938099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190526-A9CF-4398-B832-63B597FDF3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BEDD138-DEFB-40D4-9AA4-41847992B63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70743CA-E3D2-4835-B10C-FA5B9B9C331C}"/>
              </a:ext>
            </a:extLst>
          </p:cNvPr>
          <p:cNvSpPr>
            <a:spLocks noGrp="1"/>
          </p:cNvSpPr>
          <p:nvPr>
            <p:ph type="dt" sz="half" idx="10"/>
          </p:nvPr>
        </p:nvSpPr>
        <p:spPr/>
        <p:txBody>
          <a:bodyPr/>
          <a:lstStyle/>
          <a:p>
            <a:fld id="{A02F2C85-91E0-44F5-9398-DEDE0730D201}" type="datetime1">
              <a:rPr lang="en-IN" smtClean="0"/>
              <a:t>20-03-2026</a:t>
            </a:fld>
            <a:endParaRPr lang="en-IN"/>
          </a:p>
        </p:txBody>
      </p:sp>
      <p:sp>
        <p:nvSpPr>
          <p:cNvPr id="8" name="Footer Placeholder 7">
            <a:extLst>
              <a:ext uri="{FF2B5EF4-FFF2-40B4-BE49-F238E27FC236}">
                <a16:creationId xmlns:a16="http://schemas.microsoft.com/office/drawing/2014/main" id="{3D6FB835-2539-4883-9787-E64CC2DA9F84}"/>
              </a:ext>
            </a:extLst>
          </p:cNvPr>
          <p:cNvSpPr>
            <a:spLocks noGrp="1"/>
          </p:cNvSpPr>
          <p:nvPr>
            <p:ph type="ftr" sz="quarter" idx="11"/>
          </p:nvPr>
        </p:nvSpPr>
        <p:spPr/>
        <p:txBody>
          <a:bodyPr/>
          <a:lstStyle/>
          <a:p>
            <a:r>
              <a:rPr lang="en-IN"/>
              <a:t>Mini Project Topic Approval</a:t>
            </a:r>
          </a:p>
        </p:txBody>
      </p:sp>
      <p:sp>
        <p:nvSpPr>
          <p:cNvPr id="9" name="Slide Number Placeholder 8">
            <a:extLst>
              <a:ext uri="{FF2B5EF4-FFF2-40B4-BE49-F238E27FC236}">
                <a16:creationId xmlns:a16="http://schemas.microsoft.com/office/drawing/2014/main" id="{86F684C8-037C-4452-ABB7-92BBDE509D8E}"/>
              </a:ext>
            </a:extLst>
          </p:cNvPr>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2382172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C75A5-2A7F-4DB4-9962-B5792F9E6F0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6C6AE9D-EE96-4771-83A2-5BF8F5DC2AD6}"/>
              </a:ext>
            </a:extLst>
          </p:cNvPr>
          <p:cNvSpPr>
            <a:spLocks noGrp="1"/>
          </p:cNvSpPr>
          <p:nvPr>
            <p:ph type="dt" sz="half" idx="10"/>
          </p:nvPr>
        </p:nvSpPr>
        <p:spPr/>
        <p:txBody>
          <a:bodyPr/>
          <a:lstStyle/>
          <a:p>
            <a:fld id="{F76893C6-923A-40FB-A014-BF4B9D7E8DAD}" type="datetime1">
              <a:rPr lang="en-IN" smtClean="0"/>
              <a:t>20-03-2026</a:t>
            </a:fld>
            <a:endParaRPr lang="en-IN"/>
          </a:p>
        </p:txBody>
      </p:sp>
      <p:sp>
        <p:nvSpPr>
          <p:cNvPr id="4" name="Footer Placeholder 3">
            <a:extLst>
              <a:ext uri="{FF2B5EF4-FFF2-40B4-BE49-F238E27FC236}">
                <a16:creationId xmlns:a16="http://schemas.microsoft.com/office/drawing/2014/main" id="{1E3A682E-6487-4631-9316-CDE297D2DC22}"/>
              </a:ext>
            </a:extLst>
          </p:cNvPr>
          <p:cNvSpPr>
            <a:spLocks noGrp="1"/>
          </p:cNvSpPr>
          <p:nvPr>
            <p:ph type="ftr" sz="quarter" idx="11"/>
          </p:nvPr>
        </p:nvSpPr>
        <p:spPr/>
        <p:txBody>
          <a:bodyPr/>
          <a:lstStyle/>
          <a:p>
            <a:r>
              <a:rPr lang="en-IN"/>
              <a:t>Mini Project Topic Approval</a:t>
            </a:r>
          </a:p>
        </p:txBody>
      </p:sp>
      <p:sp>
        <p:nvSpPr>
          <p:cNvPr id="5" name="Slide Number Placeholder 4">
            <a:extLst>
              <a:ext uri="{FF2B5EF4-FFF2-40B4-BE49-F238E27FC236}">
                <a16:creationId xmlns:a16="http://schemas.microsoft.com/office/drawing/2014/main" id="{AB28DE16-03A0-4ED2-BA9C-5C5D47B73C77}"/>
              </a:ext>
            </a:extLst>
          </p:cNvPr>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2790515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4CEFFA-2A39-4C3B-96BB-18040761A2CA}"/>
              </a:ext>
            </a:extLst>
          </p:cNvPr>
          <p:cNvSpPr>
            <a:spLocks noGrp="1"/>
          </p:cNvSpPr>
          <p:nvPr>
            <p:ph type="dt" sz="half" idx="10"/>
          </p:nvPr>
        </p:nvSpPr>
        <p:spPr/>
        <p:txBody>
          <a:bodyPr/>
          <a:lstStyle/>
          <a:p>
            <a:fld id="{4D11726D-D474-4CE8-8C38-BF0029510C59}" type="datetime1">
              <a:rPr lang="en-IN" smtClean="0"/>
              <a:t>20-03-2026</a:t>
            </a:fld>
            <a:endParaRPr lang="en-IN"/>
          </a:p>
        </p:txBody>
      </p:sp>
      <p:sp>
        <p:nvSpPr>
          <p:cNvPr id="3" name="Footer Placeholder 2">
            <a:extLst>
              <a:ext uri="{FF2B5EF4-FFF2-40B4-BE49-F238E27FC236}">
                <a16:creationId xmlns:a16="http://schemas.microsoft.com/office/drawing/2014/main" id="{5460C37D-52EB-4E53-898D-1376E40A1630}"/>
              </a:ext>
            </a:extLst>
          </p:cNvPr>
          <p:cNvSpPr>
            <a:spLocks noGrp="1"/>
          </p:cNvSpPr>
          <p:nvPr>
            <p:ph type="ftr" sz="quarter" idx="11"/>
          </p:nvPr>
        </p:nvSpPr>
        <p:spPr/>
        <p:txBody>
          <a:bodyPr/>
          <a:lstStyle/>
          <a:p>
            <a:r>
              <a:rPr lang="en-IN"/>
              <a:t>Mini Project Topic Approval</a:t>
            </a:r>
          </a:p>
        </p:txBody>
      </p:sp>
      <p:sp>
        <p:nvSpPr>
          <p:cNvPr id="4" name="Slide Number Placeholder 3">
            <a:extLst>
              <a:ext uri="{FF2B5EF4-FFF2-40B4-BE49-F238E27FC236}">
                <a16:creationId xmlns:a16="http://schemas.microsoft.com/office/drawing/2014/main" id="{D7EDDA51-5956-47BC-87E2-2CF554F11C2A}"/>
              </a:ext>
            </a:extLst>
          </p:cNvPr>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499904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EAA3C-A24F-471A-8267-06D5B46DF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992DF64-9912-40FF-8BC6-E608B57228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2AF8640-04C8-4497-8A02-7AC722C0EA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EEE400C-F2AC-417D-BA01-D9D1A9D1DF1A}"/>
              </a:ext>
            </a:extLst>
          </p:cNvPr>
          <p:cNvSpPr>
            <a:spLocks noGrp="1"/>
          </p:cNvSpPr>
          <p:nvPr>
            <p:ph type="dt" sz="half" idx="10"/>
          </p:nvPr>
        </p:nvSpPr>
        <p:spPr/>
        <p:txBody>
          <a:bodyPr/>
          <a:lstStyle/>
          <a:p>
            <a:fld id="{E27B7E5E-E357-40D7-9F86-7194DE2DC37A}" type="datetime1">
              <a:rPr lang="en-IN" smtClean="0"/>
              <a:t>20-03-2026</a:t>
            </a:fld>
            <a:endParaRPr lang="en-IN"/>
          </a:p>
        </p:txBody>
      </p:sp>
      <p:sp>
        <p:nvSpPr>
          <p:cNvPr id="6" name="Footer Placeholder 5">
            <a:extLst>
              <a:ext uri="{FF2B5EF4-FFF2-40B4-BE49-F238E27FC236}">
                <a16:creationId xmlns:a16="http://schemas.microsoft.com/office/drawing/2014/main" id="{06F344E5-F495-4E79-BBE3-05864E6A096B}"/>
              </a:ext>
            </a:extLst>
          </p:cNvPr>
          <p:cNvSpPr>
            <a:spLocks noGrp="1"/>
          </p:cNvSpPr>
          <p:nvPr>
            <p:ph type="ftr" sz="quarter" idx="11"/>
          </p:nvPr>
        </p:nvSpPr>
        <p:spPr/>
        <p:txBody>
          <a:bodyPr/>
          <a:lstStyle/>
          <a:p>
            <a:r>
              <a:rPr lang="en-IN"/>
              <a:t>Mini Project Topic Approval</a:t>
            </a:r>
          </a:p>
        </p:txBody>
      </p:sp>
      <p:sp>
        <p:nvSpPr>
          <p:cNvPr id="7" name="Slide Number Placeholder 6">
            <a:extLst>
              <a:ext uri="{FF2B5EF4-FFF2-40B4-BE49-F238E27FC236}">
                <a16:creationId xmlns:a16="http://schemas.microsoft.com/office/drawing/2014/main" id="{F1109799-0F22-4DD7-B2CB-6C8BD2A3E0F5}"/>
              </a:ext>
            </a:extLst>
          </p:cNvPr>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1816356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F38E1-65F3-4C2C-A7D2-186FDA67A4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307F5D5-4B9E-4372-B1F8-AEC922FBA1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E87FE8-2809-4727-BBCE-02D7427C6C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408AFC0-6367-47C8-8D4D-12DE9CF4A3AE}"/>
              </a:ext>
            </a:extLst>
          </p:cNvPr>
          <p:cNvSpPr>
            <a:spLocks noGrp="1"/>
          </p:cNvSpPr>
          <p:nvPr>
            <p:ph type="dt" sz="half" idx="10"/>
          </p:nvPr>
        </p:nvSpPr>
        <p:spPr/>
        <p:txBody>
          <a:bodyPr/>
          <a:lstStyle/>
          <a:p>
            <a:fld id="{3D429355-BED8-4CAC-ADE6-A0C1A6FFC1ED}" type="datetime1">
              <a:rPr lang="en-IN" smtClean="0"/>
              <a:t>20-03-2026</a:t>
            </a:fld>
            <a:endParaRPr lang="en-IN"/>
          </a:p>
        </p:txBody>
      </p:sp>
      <p:sp>
        <p:nvSpPr>
          <p:cNvPr id="6" name="Footer Placeholder 5">
            <a:extLst>
              <a:ext uri="{FF2B5EF4-FFF2-40B4-BE49-F238E27FC236}">
                <a16:creationId xmlns:a16="http://schemas.microsoft.com/office/drawing/2014/main" id="{85376D9A-206C-46FC-9239-A4C107F2F641}"/>
              </a:ext>
            </a:extLst>
          </p:cNvPr>
          <p:cNvSpPr>
            <a:spLocks noGrp="1"/>
          </p:cNvSpPr>
          <p:nvPr>
            <p:ph type="ftr" sz="quarter" idx="11"/>
          </p:nvPr>
        </p:nvSpPr>
        <p:spPr/>
        <p:txBody>
          <a:bodyPr/>
          <a:lstStyle/>
          <a:p>
            <a:r>
              <a:rPr lang="en-IN"/>
              <a:t>Mini Project Topic Approval</a:t>
            </a:r>
          </a:p>
        </p:txBody>
      </p:sp>
      <p:sp>
        <p:nvSpPr>
          <p:cNvPr id="7" name="Slide Number Placeholder 6">
            <a:extLst>
              <a:ext uri="{FF2B5EF4-FFF2-40B4-BE49-F238E27FC236}">
                <a16:creationId xmlns:a16="http://schemas.microsoft.com/office/drawing/2014/main" id="{2A534B08-15FB-4647-B234-CEEA5998E580}"/>
              </a:ext>
            </a:extLst>
          </p:cNvPr>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334726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A8B9D-AA0C-49E7-9061-E087B211E7D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47E5B1-7A21-473A-8B06-4C8D46A5188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319D0A-ED9B-4A3F-9621-DBB81E06386B}"/>
              </a:ext>
            </a:extLst>
          </p:cNvPr>
          <p:cNvSpPr>
            <a:spLocks noGrp="1"/>
          </p:cNvSpPr>
          <p:nvPr>
            <p:ph type="dt" sz="half" idx="10"/>
          </p:nvPr>
        </p:nvSpPr>
        <p:spPr/>
        <p:txBody>
          <a:bodyPr/>
          <a:lstStyle/>
          <a:p>
            <a:fld id="{1BD181DA-D760-4498-B859-E8E181065ABB}" type="datetime1">
              <a:rPr lang="en-IN" smtClean="0"/>
              <a:t>20-03-2026</a:t>
            </a:fld>
            <a:endParaRPr lang="en-IN"/>
          </a:p>
        </p:txBody>
      </p:sp>
      <p:sp>
        <p:nvSpPr>
          <p:cNvPr id="5" name="Footer Placeholder 4">
            <a:extLst>
              <a:ext uri="{FF2B5EF4-FFF2-40B4-BE49-F238E27FC236}">
                <a16:creationId xmlns:a16="http://schemas.microsoft.com/office/drawing/2014/main" id="{2FB4C906-9F98-44BF-8341-AE01AF3353ED}"/>
              </a:ext>
            </a:extLst>
          </p:cNvPr>
          <p:cNvSpPr>
            <a:spLocks noGrp="1"/>
          </p:cNvSpPr>
          <p:nvPr>
            <p:ph type="ftr" sz="quarter" idx="11"/>
          </p:nvPr>
        </p:nvSpPr>
        <p:spPr/>
        <p:txBody>
          <a:bodyPr/>
          <a:lstStyle/>
          <a:p>
            <a:r>
              <a:rPr lang="en-IN"/>
              <a:t>Mini Project Topic Approval</a:t>
            </a:r>
          </a:p>
        </p:txBody>
      </p:sp>
      <p:sp>
        <p:nvSpPr>
          <p:cNvPr id="6" name="Slide Number Placeholder 5">
            <a:extLst>
              <a:ext uri="{FF2B5EF4-FFF2-40B4-BE49-F238E27FC236}">
                <a16:creationId xmlns:a16="http://schemas.microsoft.com/office/drawing/2014/main" id="{30AFAB91-9863-46B5-9BD5-9D84B453C51C}"/>
              </a:ext>
            </a:extLst>
          </p:cNvPr>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3351094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FE9C11-F275-49C9-B1C0-9668171A89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8149CA-13A0-4A44-9636-65A3B017F56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B6154C-FC5C-484C-B5F0-860AF694C0AD}"/>
              </a:ext>
            </a:extLst>
          </p:cNvPr>
          <p:cNvSpPr>
            <a:spLocks noGrp="1"/>
          </p:cNvSpPr>
          <p:nvPr>
            <p:ph type="dt" sz="half" idx="10"/>
          </p:nvPr>
        </p:nvSpPr>
        <p:spPr/>
        <p:txBody>
          <a:bodyPr/>
          <a:lstStyle/>
          <a:p>
            <a:fld id="{DF223886-1D58-41D2-ADD5-7C2E20910322}" type="datetime1">
              <a:rPr lang="en-IN" smtClean="0"/>
              <a:t>20-03-2026</a:t>
            </a:fld>
            <a:endParaRPr lang="en-IN"/>
          </a:p>
        </p:txBody>
      </p:sp>
      <p:sp>
        <p:nvSpPr>
          <p:cNvPr id="5" name="Footer Placeholder 4">
            <a:extLst>
              <a:ext uri="{FF2B5EF4-FFF2-40B4-BE49-F238E27FC236}">
                <a16:creationId xmlns:a16="http://schemas.microsoft.com/office/drawing/2014/main" id="{2D2062DB-0F3F-4D15-A7F7-DB8CFBFB893A}"/>
              </a:ext>
            </a:extLst>
          </p:cNvPr>
          <p:cNvSpPr>
            <a:spLocks noGrp="1"/>
          </p:cNvSpPr>
          <p:nvPr>
            <p:ph type="ftr" sz="quarter" idx="11"/>
          </p:nvPr>
        </p:nvSpPr>
        <p:spPr/>
        <p:txBody>
          <a:bodyPr/>
          <a:lstStyle/>
          <a:p>
            <a:r>
              <a:rPr lang="en-IN"/>
              <a:t>Mini Project Topic Approval</a:t>
            </a:r>
          </a:p>
        </p:txBody>
      </p:sp>
      <p:sp>
        <p:nvSpPr>
          <p:cNvPr id="6" name="Slide Number Placeholder 5">
            <a:extLst>
              <a:ext uri="{FF2B5EF4-FFF2-40B4-BE49-F238E27FC236}">
                <a16:creationId xmlns:a16="http://schemas.microsoft.com/office/drawing/2014/main" id="{E87532E6-E7FC-4A4A-A987-98523D1F82E9}"/>
              </a:ext>
            </a:extLst>
          </p:cNvPr>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861085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482AD4-410A-4840-81E8-81032BA026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274687-D91C-4052-AF87-2BAD4872A4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196928-B6A4-4FBB-B483-05FAACA9B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25DE90-0351-42C0-A9DE-3A7AD8E0B281}" type="datetime1">
              <a:rPr lang="en-IN" smtClean="0"/>
              <a:t>20-03-2026</a:t>
            </a:fld>
            <a:endParaRPr lang="en-IN"/>
          </a:p>
        </p:txBody>
      </p:sp>
      <p:sp>
        <p:nvSpPr>
          <p:cNvPr id="5" name="Footer Placeholder 4">
            <a:extLst>
              <a:ext uri="{FF2B5EF4-FFF2-40B4-BE49-F238E27FC236}">
                <a16:creationId xmlns:a16="http://schemas.microsoft.com/office/drawing/2014/main" id="{E702E10B-2832-47E1-B8B8-2F3D3ABDD8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Mini Project Topic Approval</a:t>
            </a:r>
          </a:p>
        </p:txBody>
      </p:sp>
      <p:sp>
        <p:nvSpPr>
          <p:cNvPr id="6" name="Slide Number Placeholder 5">
            <a:extLst>
              <a:ext uri="{FF2B5EF4-FFF2-40B4-BE49-F238E27FC236}">
                <a16:creationId xmlns:a16="http://schemas.microsoft.com/office/drawing/2014/main" id="{99F9D8F6-E224-474F-A06A-581CB18B15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2AE893-BA06-4F67-8C19-46525B8E0FBB}" type="slidenum">
              <a:rPr lang="en-IN" smtClean="0"/>
              <a:t>‹#›</a:t>
            </a:fld>
            <a:endParaRPr lang="en-IN"/>
          </a:p>
        </p:txBody>
      </p:sp>
    </p:spTree>
    <p:extLst>
      <p:ext uri="{BB962C8B-B14F-4D97-AF65-F5344CB8AC3E}">
        <p14:creationId xmlns:p14="http://schemas.microsoft.com/office/powerpoint/2010/main" val="18457481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BA7452-B1FD-4787-9AD6-8F1626538519}"/>
              </a:ext>
            </a:extLst>
          </p:cNvPr>
          <p:cNvPicPr>
            <a:picLocks noChangeAspect="1"/>
          </p:cNvPicPr>
          <p:nvPr/>
        </p:nvPicPr>
        <p:blipFill>
          <a:blip r:embed="rId2"/>
          <a:stretch>
            <a:fillRect/>
          </a:stretch>
        </p:blipFill>
        <p:spPr>
          <a:xfrm>
            <a:off x="3059167" y="84665"/>
            <a:ext cx="6073666" cy="1150720"/>
          </a:xfrm>
          <a:prstGeom prst="rect">
            <a:avLst/>
          </a:prstGeom>
        </p:spPr>
      </p:pic>
      <p:sp>
        <p:nvSpPr>
          <p:cNvPr id="6" name="TextBox 5">
            <a:extLst>
              <a:ext uri="{FF2B5EF4-FFF2-40B4-BE49-F238E27FC236}">
                <a16:creationId xmlns:a16="http://schemas.microsoft.com/office/drawing/2014/main" id="{02F5F8CD-2E11-44A0-9D8E-7114C74E3E7E}"/>
              </a:ext>
            </a:extLst>
          </p:cNvPr>
          <p:cNvSpPr txBox="1"/>
          <p:nvPr/>
        </p:nvSpPr>
        <p:spPr>
          <a:xfrm>
            <a:off x="3059167" y="1356026"/>
            <a:ext cx="6073666" cy="1077218"/>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AI-Assisted Lead Qualification &amp; Automated Follow-Up System</a:t>
            </a:r>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B68E39C-376B-4992-9C7D-1A0C9D2517FC}"/>
              </a:ext>
            </a:extLst>
          </p:cNvPr>
          <p:cNvSpPr txBox="1"/>
          <p:nvPr/>
        </p:nvSpPr>
        <p:spPr>
          <a:xfrm>
            <a:off x="901411" y="2188905"/>
            <a:ext cx="10658475" cy="4411785"/>
          </a:xfrm>
          <a:prstGeom prst="rect">
            <a:avLst/>
          </a:prstGeom>
          <a:noFill/>
        </p:spPr>
        <p:txBody>
          <a:bodyPr wrap="square" rtlCol="0">
            <a:spAutoFit/>
          </a:bodyPr>
          <a:lstStyle/>
          <a:p>
            <a:pPr marL="342900" indent="-34290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Theme: Industry, Innovation, and Infrastructure</a:t>
            </a:r>
          </a:p>
          <a:p>
            <a:pPr marL="342900" indent="-34290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Category: Software</a:t>
            </a:r>
            <a:r>
              <a:rPr lang="en-US" sz="2400" b="1" dirty="0">
                <a:latin typeface="Times New Roman" panose="02020603050405020304" pitchFamily="18" charset="0"/>
                <a:cs typeface="Times New Roman" panose="02020603050405020304" pitchFamily="18" charset="0"/>
              </a:rPr>
              <a:t> (Applied AI / Sales Automation)</a:t>
            </a:r>
            <a:endParaRPr lang="en-IN" sz="2400" b="1"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Group Number: 04</a:t>
            </a:r>
          </a:p>
          <a:p>
            <a:pPr marL="342900" indent="-34290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Group Members: Kunal </a:t>
            </a:r>
            <a:r>
              <a:rPr lang="en-IN" sz="2400" b="1" dirty="0" err="1">
                <a:latin typeface="Times New Roman" panose="02020603050405020304" pitchFamily="18" charset="0"/>
                <a:cs typeface="Times New Roman" panose="02020603050405020304" pitchFamily="18" charset="0"/>
              </a:rPr>
              <a:t>Redij</a:t>
            </a:r>
            <a:r>
              <a:rPr lang="en-IN" sz="2400" b="1" dirty="0">
                <a:latin typeface="Times New Roman" panose="02020603050405020304" pitchFamily="18" charset="0"/>
                <a:cs typeface="Times New Roman" panose="02020603050405020304" pitchFamily="18" charset="0"/>
              </a:rPr>
              <a:t>, Soham </a:t>
            </a:r>
            <a:r>
              <a:rPr lang="en-IN" sz="2400" b="1" dirty="0" err="1">
                <a:latin typeface="Times New Roman" panose="02020603050405020304" pitchFamily="18" charset="0"/>
                <a:cs typeface="Times New Roman" panose="02020603050405020304" pitchFamily="18" charset="0"/>
              </a:rPr>
              <a:t>Shelatkar</a:t>
            </a:r>
            <a:r>
              <a:rPr lang="en-IN" sz="2400" b="1" dirty="0">
                <a:latin typeface="Times New Roman" panose="02020603050405020304" pitchFamily="18" charset="0"/>
                <a:cs typeface="Times New Roman" panose="02020603050405020304" pitchFamily="18" charset="0"/>
              </a:rPr>
              <a:t>,</a:t>
            </a:r>
          </a:p>
          <a:p>
            <a:pPr>
              <a:lnSpc>
                <a:spcPct val="200000"/>
              </a:lnSpc>
            </a:pPr>
            <a:r>
              <a:rPr lang="en-IN" sz="2400" b="1" dirty="0">
                <a:latin typeface="Times New Roman" panose="02020603050405020304" pitchFamily="18" charset="0"/>
                <a:cs typeface="Times New Roman" panose="02020603050405020304" pitchFamily="18" charset="0"/>
              </a:rPr>
              <a:t>                                   Makarand Panchal, Varun Panchal                                                                                                </a:t>
            </a:r>
          </a:p>
          <a:p>
            <a:pPr marL="342900" indent="-34290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Guide: </a:t>
            </a:r>
            <a:r>
              <a:rPr lang="en-IN" sz="2400" b="1" dirty="0" err="1">
                <a:latin typeface="Times New Roman" panose="02020603050405020304" pitchFamily="18" charset="0"/>
                <a:cs typeface="Times New Roman" panose="02020603050405020304" pitchFamily="18" charset="0"/>
              </a:rPr>
              <a:t>Prof.Rashmi</a:t>
            </a:r>
            <a:r>
              <a:rPr lang="en-IN" sz="2400" b="1" dirty="0">
                <a:latin typeface="Times New Roman" panose="02020603050405020304" pitchFamily="18" charset="0"/>
                <a:cs typeface="Times New Roman" panose="02020603050405020304" pitchFamily="18" charset="0"/>
              </a:rPr>
              <a:t> Dhake</a:t>
            </a:r>
          </a:p>
        </p:txBody>
      </p:sp>
      <p:sp>
        <p:nvSpPr>
          <p:cNvPr id="8" name="Footer Placeholder 7">
            <a:extLst>
              <a:ext uri="{FF2B5EF4-FFF2-40B4-BE49-F238E27FC236}">
                <a16:creationId xmlns:a16="http://schemas.microsoft.com/office/drawing/2014/main" id="{37214565-9AA2-4700-B6D8-EBDE0B33F7E6}"/>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Mini Project Topic Approval</a:t>
            </a:r>
          </a:p>
        </p:txBody>
      </p:sp>
      <p:sp>
        <p:nvSpPr>
          <p:cNvPr id="9" name="Slide Number Placeholder 8">
            <a:extLst>
              <a:ext uri="{FF2B5EF4-FFF2-40B4-BE49-F238E27FC236}">
                <a16:creationId xmlns:a16="http://schemas.microsoft.com/office/drawing/2014/main" id="{B5B60473-2CAB-41E8-A5B8-2FC3D587CBB2}"/>
              </a:ext>
            </a:extLst>
          </p:cNvPr>
          <p:cNvSpPr>
            <a:spLocks noGrp="1"/>
          </p:cNvSpPr>
          <p:nvPr>
            <p:ph type="sldNum" sz="quarter" idx="12"/>
          </p:nvPr>
        </p:nvSpPr>
        <p:spPr/>
        <p:txBody>
          <a:bodyPr/>
          <a:lstStyle/>
          <a:p>
            <a:fld id="{1E2AE893-BA06-4F67-8C19-46525B8E0FBB}" type="slidenum">
              <a:rPr lang="en-IN" smtClean="0"/>
              <a:t>1</a:t>
            </a:fld>
            <a:endParaRPr lang="en-IN" dirty="0"/>
          </a:p>
        </p:txBody>
      </p:sp>
    </p:spTree>
    <p:extLst>
      <p:ext uri="{BB962C8B-B14F-4D97-AF65-F5344CB8AC3E}">
        <p14:creationId xmlns:p14="http://schemas.microsoft.com/office/powerpoint/2010/main" val="3790333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AA590-B12C-40B4-9FEF-1163414A654D}"/>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47A308B0-8C32-4BC4-9160-3BE586FC6C3B}"/>
              </a:ext>
            </a:extLst>
          </p:cNvPr>
          <p:cNvSpPr>
            <a:spLocks noGrp="1"/>
          </p:cNvSpPr>
          <p:nvPr>
            <p:ph idx="1"/>
          </p:nvPr>
        </p:nvSpPr>
        <p:spPr>
          <a:xfrm>
            <a:off x="838200" y="1228730"/>
            <a:ext cx="10515599" cy="4948233"/>
          </a:xfrm>
        </p:spPr>
        <p:txBody>
          <a:bodyPr>
            <a:normAutofit/>
          </a:bodyPr>
          <a:lstStyle/>
          <a:p>
            <a:pPr marL="0" indent="0" algn="just">
              <a:buNone/>
            </a:pPr>
            <a:r>
              <a:rPr lang="en-US" dirty="0"/>
              <a:t>In today’s digital landscape, businesses generate a large volume of inbound leads through websites and online channels, making efficient lead management crucial for improving response time, conversion rates, and overall sales performance. With the growing adoption of AI-driven automation, organizations are increasingly exploring intelligent systems to streamline lead handling and enhance decision-making processes.</a:t>
            </a:r>
          </a:p>
          <a:p>
            <a:pPr marL="0" indent="0" algn="just">
              <a:lnSpc>
                <a:spcPct val="120000"/>
              </a:lnSpc>
              <a:spcBef>
                <a:spcPts val="0"/>
              </a:spcBef>
              <a:spcAft>
                <a:spcPts val="1800"/>
              </a:spcAft>
              <a:buNone/>
            </a:pPr>
            <a:endParaRPr lang="en-US" sz="2200" b="1" dirty="0"/>
          </a:p>
        </p:txBody>
      </p:sp>
      <p:sp>
        <p:nvSpPr>
          <p:cNvPr id="4" name="Footer Placeholder 3">
            <a:extLst>
              <a:ext uri="{FF2B5EF4-FFF2-40B4-BE49-F238E27FC236}">
                <a16:creationId xmlns:a16="http://schemas.microsoft.com/office/drawing/2014/main" id="{CA34111F-2AA5-4F70-8EC5-CA7BB5FD3F65}"/>
              </a:ext>
            </a:extLst>
          </p:cNvPr>
          <p:cNvSpPr>
            <a:spLocks noGrp="1"/>
          </p:cNvSpPr>
          <p:nvPr>
            <p:ph type="ftr" sz="quarter" idx="11"/>
          </p:nvPr>
        </p:nvSpPr>
        <p:spPr/>
        <p:txBody>
          <a:bodyPr/>
          <a:lstStyle/>
          <a:p>
            <a:r>
              <a:rPr lang="en-IN" dirty="0"/>
              <a:t>Mini Project Topic Approval</a:t>
            </a:r>
          </a:p>
        </p:txBody>
      </p:sp>
      <p:sp>
        <p:nvSpPr>
          <p:cNvPr id="5" name="Slide Number Placeholder 4">
            <a:extLst>
              <a:ext uri="{FF2B5EF4-FFF2-40B4-BE49-F238E27FC236}">
                <a16:creationId xmlns:a16="http://schemas.microsoft.com/office/drawing/2014/main" id="{EF2C5B87-1FBA-49DD-A74F-05EB7C0F28DD}"/>
              </a:ext>
            </a:extLst>
          </p:cNvPr>
          <p:cNvSpPr>
            <a:spLocks noGrp="1"/>
          </p:cNvSpPr>
          <p:nvPr>
            <p:ph type="sldNum" sz="quarter" idx="12"/>
          </p:nvPr>
        </p:nvSpPr>
        <p:spPr/>
        <p:txBody>
          <a:bodyPr/>
          <a:lstStyle/>
          <a:p>
            <a:fld id="{1E2AE893-BA06-4F67-8C19-46525B8E0FBB}" type="slidenum">
              <a:rPr lang="en-IN" smtClean="0"/>
              <a:pPr/>
              <a:t>2</a:t>
            </a:fld>
            <a:endParaRPr lang="en-IN"/>
          </a:p>
        </p:txBody>
      </p:sp>
    </p:spTree>
    <p:extLst>
      <p:ext uri="{BB962C8B-B14F-4D97-AF65-F5344CB8AC3E}">
        <p14:creationId xmlns:p14="http://schemas.microsoft.com/office/powerpoint/2010/main" val="1994223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AA590-B12C-40B4-9FEF-1163414A654D}"/>
              </a:ext>
            </a:extLst>
          </p:cNvPr>
          <p:cNvSpPr>
            <a:spLocks noGrp="1"/>
          </p:cNvSpPr>
          <p:nvPr>
            <p:ph type="title"/>
          </p:nvPr>
        </p:nvSpPr>
        <p:spPr/>
        <p:txBody>
          <a:bodyPr/>
          <a:lstStyle/>
          <a:p>
            <a:r>
              <a:rPr lang="en-IN" dirty="0"/>
              <a:t>Sustainable Development Goal:</a:t>
            </a:r>
          </a:p>
        </p:txBody>
      </p:sp>
      <p:sp>
        <p:nvSpPr>
          <p:cNvPr id="3" name="Content Placeholder 2">
            <a:extLst>
              <a:ext uri="{FF2B5EF4-FFF2-40B4-BE49-F238E27FC236}">
                <a16:creationId xmlns:a16="http://schemas.microsoft.com/office/drawing/2014/main" id="{47A308B0-8C32-4BC4-9160-3BE586FC6C3B}"/>
              </a:ext>
            </a:extLst>
          </p:cNvPr>
          <p:cNvSpPr>
            <a:spLocks noGrp="1"/>
          </p:cNvSpPr>
          <p:nvPr>
            <p:ph idx="1"/>
          </p:nvPr>
        </p:nvSpPr>
        <p:spPr>
          <a:xfrm>
            <a:off x="838200" y="1228730"/>
            <a:ext cx="6327097" cy="4948233"/>
          </a:xfrm>
        </p:spPr>
        <p:txBody>
          <a:bodyPr>
            <a:normAutofit/>
          </a:bodyPr>
          <a:lstStyle/>
          <a:p>
            <a:pPr marL="0" indent="0" algn="just">
              <a:buNone/>
            </a:pPr>
            <a:r>
              <a:rPr lang="en-US" dirty="0"/>
              <a:t>This project contributes to </a:t>
            </a:r>
            <a:r>
              <a:rPr lang="en-US" b="1" dirty="0"/>
              <a:t>SDG 9 – Industry,                          Innovation &amp; Infrastructure</a:t>
            </a:r>
            <a:r>
              <a:rPr lang="en-US" dirty="0"/>
              <a:t> by:</a:t>
            </a:r>
          </a:p>
          <a:p>
            <a:pPr marL="0" indent="0" algn="just">
              <a:buNone/>
            </a:pPr>
            <a:r>
              <a:rPr lang="en-US" dirty="0"/>
              <a:t>• Promoting AI adoption in small and medium businesses</a:t>
            </a:r>
            <a:br>
              <a:rPr lang="en-US" dirty="0"/>
            </a:br>
            <a:r>
              <a:rPr lang="en-US" dirty="0"/>
              <a:t>• Reducing operational inefficiencies in sales workflows</a:t>
            </a:r>
            <a:br>
              <a:rPr lang="en-US" dirty="0"/>
            </a:br>
            <a:r>
              <a:rPr lang="en-US" dirty="0"/>
              <a:t>• Encouraging digital automation infrastructure</a:t>
            </a:r>
            <a:br>
              <a:rPr lang="en-US" dirty="0"/>
            </a:br>
            <a:r>
              <a:rPr lang="en-US" dirty="0"/>
              <a:t>• Supporting scalable and intelligent communication systems</a:t>
            </a:r>
          </a:p>
        </p:txBody>
      </p:sp>
      <p:sp>
        <p:nvSpPr>
          <p:cNvPr id="4" name="Footer Placeholder 3">
            <a:extLst>
              <a:ext uri="{FF2B5EF4-FFF2-40B4-BE49-F238E27FC236}">
                <a16:creationId xmlns:a16="http://schemas.microsoft.com/office/drawing/2014/main" id="{CA34111F-2AA5-4F70-8EC5-CA7BB5FD3F65}"/>
              </a:ext>
            </a:extLst>
          </p:cNvPr>
          <p:cNvSpPr>
            <a:spLocks noGrp="1"/>
          </p:cNvSpPr>
          <p:nvPr>
            <p:ph type="ftr" sz="quarter" idx="11"/>
          </p:nvPr>
        </p:nvSpPr>
        <p:spPr/>
        <p:txBody>
          <a:bodyPr/>
          <a:lstStyle/>
          <a:p>
            <a:r>
              <a:rPr lang="en-IN"/>
              <a:t>Mini Project Topic Approval</a:t>
            </a:r>
          </a:p>
        </p:txBody>
      </p:sp>
      <p:sp>
        <p:nvSpPr>
          <p:cNvPr id="5" name="Slide Number Placeholder 4">
            <a:extLst>
              <a:ext uri="{FF2B5EF4-FFF2-40B4-BE49-F238E27FC236}">
                <a16:creationId xmlns:a16="http://schemas.microsoft.com/office/drawing/2014/main" id="{EF2C5B87-1FBA-49DD-A74F-05EB7C0F28DD}"/>
              </a:ext>
            </a:extLst>
          </p:cNvPr>
          <p:cNvSpPr>
            <a:spLocks noGrp="1"/>
          </p:cNvSpPr>
          <p:nvPr>
            <p:ph type="sldNum" sz="quarter" idx="12"/>
          </p:nvPr>
        </p:nvSpPr>
        <p:spPr/>
        <p:txBody>
          <a:bodyPr/>
          <a:lstStyle/>
          <a:p>
            <a:fld id="{1E2AE893-BA06-4F67-8C19-46525B8E0FBB}" type="slidenum">
              <a:rPr lang="en-IN" smtClean="0"/>
              <a:pPr/>
              <a:t>3</a:t>
            </a:fld>
            <a:endParaRPr lang="en-IN"/>
          </a:p>
        </p:txBody>
      </p:sp>
      <p:pic>
        <p:nvPicPr>
          <p:cNvPr id="1030" name="Picture 6" descr="9 INDUSTRY, INNOVATION AND INFRASTRUCTURE">
            <a:extLst>
              <a:ext uri="{FF2B5EF4-FFF2-40B4-BE49-F238E27FC236}">
                <a16:creationId xmlns:a16="http://schemas.microsoft.com/office/drawing/2014/main" id="{40117FE8-561E-4129-831C-1AB70703A6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1371600"/>
            <a:ext cx="41148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6593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3BF95-2A94-6372-8286-9C5E9E67BC34}"/>
              </a:ext>
            </a:extLst>
          </p:cNvPr>
          <p:cNvSpPr>
            <a:spLocks noGrp="1"/>
          </p:cNvSpPr>
          <p:nvPr>
            <p:ph type="title"/>
          </p:nvPr>
        </p:nvSpPr>
        <p:spPr/>
        <p:txBody>
          <a:bodyPr/>
          <a:lstStyle/>
          <a:p>
            <a:r>
              <a:rPr lang="en-US" dirty="0"/>
              <a:t>Literature Survey:</a:t>
            </a:r>
            <a:endParaRPr lang="en-IN" dirty="0"/>
          </a:p>
        </p:txBody>
      </p:sp>
      <p:graphicFrame>
        <p:nvGraphicFramePr>
          <p:cNvPr id="6" name="Content Placeholder 5">
            <a:extLst>
              <a:ext uri="{FF2B5EF4-FFF2-40B4-BE49-F238E27FC236}">
                <a16:creationId xmlns:a16="http://schemas.microsoft.com/office/drawing/2014/main" id="{B5F10263-1645-9C21-AAFD-E012E5A94231}"/>
              </a:ext>
            </a:extLst>
          </p:cNvPr>
          <p:cNvGraphicFramePr>
            <a:graphicFrameLocks noGrp="1"/>
          </p:cNvGraphicFramePr>
          <p:nvPr>
            <p:ph idx="1"/>
            <p:extLst>
              <p:ext uri="{D42A27DB-BD31-4B8C-83A1-F6EECF244321}">
                <p14:modId xmlns:p14="http://schemas.microsoft.com/office/powerpoint/2010/main" val="4286269061"/>
              </p:ext>
            </p:extLst>
          </p:nvPr>
        </p:nvGraphicFramePr>
        <p:xfrm>
          <a:off x="1104356" y="1228725"/>
          <a:ext cx="9983288" cy="4948238"/>
        </p:xfrm>
        <a:graphic>
          <a:graphicData uri="http://schemas.openxmlformats.org/drawingml/2006/table">
            <a:tbl>
              <a:tblPr/>
              <a:tblGrid>
                <a:gridCol w="832509">
                  <a:extLst>
                    <a:ext uri="{9D8B030D-6E8A-4147-A177-3AD203B41FA5}">
                      <a16:colId xmlns:a16="http://schemas.microsoft.com/office/drawing/2014/main" val="2019161722"/>
                    </a:ext>
                  </a:extLst>
                </a:gridCol>
                <a:gridCol w="1663313">
                  <a:extLst>
                    <a:ext uri="{9D8B030D-6E8A-4147-A177-3AD203B41FA5}">
                      <a16:colId xmlns:a16="http://schemas.microsoft.com/office/drawing/2014/main" val="2393381247"/>
                    </a:ext>
                  </a:extLst>
                </a:gridCol>
                <a:gridCol w="2495822">
                  <a:extLst>
                    <a:ext uri="{9D8B030D-6E8A-4147-A177-3AD203B41FA5}">
                      <a16:colId xmlns:a16="http://schemas.microsoft.com/office/drawing/2014/main" val="2882037616"/>
                    </a:ext>
                  </a:extLst>
                </a:gridCol>
                <a:gridCol w="2495822">
                  <a:extLst>
                    <a:ext uri="{9D8B030D-6E8A-4147-A177-3AD203B41FA5}">
                      <a16:colId xmlns:a16="http://schemas.microsoft.com/office/drawing/2014/main" val="3577604669"/>
                    </a:ext>
                  </a:extLst>
                </a:gridCol>
                <a:gridCol w="2495822">
                  <a:extLst>
                    <a:ext uri="{9D8B030D-6E8A-4147-A177-3AD203B41FA5}">
                      <a16:colId xmlns:a16="http://schemas.microsoft.com/office/drawing/2014/main" val="4107467051"/>
                    </a:ext>
                  </a:extLst>
                </a:gridCol>
              </a:tblGrid>
              <a:tr h="347245">
                <a:tc>
                  <a:txBody>
                    <a:bodyPr/>
                    <a:lstStyle/>
                    <a:p>
                      <a:pPr>
                        <a:buNone/>
                      </a:pPr>
                      <a:r>
                        <a:rPr lang="en-IN" sz="1700" dirty="0">
                          <a:latin typeface="Times New Roman" panose="02020603050405020304" pitchFamily="18" charset="0"/>
                          <a:cs typeface="Times New Roman" panose="02020603050405020304" pitchFamily="18" charset="0"/>
                        </a:rPr>
                        <a:t>Sr. No.</a:t>
                      </a:r>
                    </a:p>
                  </a:txBody>
                  <a:tcPr marL="86811" marR="86811" marT="43406" marB="43406"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endParaRPr lang="en-IN" sz="1700"/>
                    </a:p>
                  </a:txBody>
                  <a:tcPr marL="86811" marR="86811" marT="43406" marB="43406"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buNone/>
                      </a:pPr>
                      <a:r>
                        <a:rPr lang="en-IN" sz="1700">
                          <a:latin typeface="Times New Roman" panose="02020603050405020304" pitchFamily="18" charset="0"/>
                          <a:cs typeface="Times New Roman" panose="02020603050405020304" pitchFamily="18" charset="0"/>
                        </a:rPr>
                        <a:t>Paper Title</a:t>
                      </a:r>
                    </a:p>
                  </a:txBody>
                  <a:tcPr marL="86811" marR="86811" marT="43406" marB="43406" anchor="ctr">
                    <a:lnL>
                      <a:noFill/>
                    </a:lnL>
                    <a:lnR>
                      <a:noFill/>
                    </a:lnR>
                    <a:lnT>
                      <a:noFill/>
                    </a:lnT>
                    <a:lnB>
                      <a:noFill/>
                    </a:lnB>
                    <a:noFill/>
                  </a:tcPr>
                </a:tc>
                <a:tc>
                  <a:txBody>
                    <a:bodyPr/>
                    <a:lstStyle/>
                    <a:p>
                      <a:pPr>
                        <a:buNone/>
                      </a:pPr>
                      <a:r>
                        <a:rPr lang="en-IN" sz="1700" dirty="0">
                          <a:latin typeface="Times New Roman" panose="02020603050405020304" pitchFamily="18" charset="0"/>
                          <a:cs typeface="Times New Roman" panose="02020603050405020304" pitchFamily="18" charset="0"/>
                        </a:rPr>
                        <a:t>Key Contribution</a:t>
                      </a:r>
                    </a:p>
                  </a:txBody>
                  <a:tcPr marL="86811" marR="86811" marT="43406" marB="43406" anchor="ctr">
                    <a:lnL>
                      <a:noFill/>
                    </a:lnL>
                    <a:lnR>
                      <a:noFill/>
                    </a:lnR>
                    <a:lnT>
                      <a:noFill/>
                    </a:lnT>
                    <a:lnB>
                      <a:noFill/>
                    </a:lnB>
                    <a:noFill/>
                  </a:tcPr>
                </a:tc>
                <a:tc>
                  <a:txBody>
                    <a:bodyPr/>
                    <a:lstStyle/>
                    <a:p>
                      <a:pPr>
                        <a:buNone/>
                      </a:pPr>
                      <a:r>
                        <a:rPr lang="en-IN" sz="1700">
                          <a:latin typeface="Times New Roman" panose="02020603050405020304" pitchFamily="18" charset="0"/>
                          <a:cs typeface="Times New Roman" panose="02020603050405020304" pitchFamily="18" charset="0"/>
                        </a:rPr>
                        <a:t>Relevance to Project</a:t>
                      </a:r>
                    </a:p>
                  </a:txBody>
                  <a:tcPr marL="86811" marR="86811" marT="43406" marB="43406" anchor="ctr">
                    <a:lnL>
                      <a:noFill/>
                    </a:lnL>
                    <a:lnR>
                      <a:noFill/>
                    </a:lnR>
                    <a:lnT>
                      <a:noFill/>
                    </a:lnT>
                    <a:lnB>
                      <a:noFill/>
                    </a:lnB>
                    <a:noFill/>
                  </a:tcPr>
                </a:tc>
                <a:extLst>
                  <a:ext uri="{0D108BD9-81ED-4DB2-BD59-A6C34878D82A}">
                    <a16:rowId xmlns:a16="http://schemas.microsoft.com/office/drawing/2014/main" val="4086960301"/>
                  </a:ext>
                </a:extLst>
              </a:tr>
              <a:tr h="1128545">
                <a:tc>
                  <a:txBody>
                    <a:bodyPr/>
                    <a:lstStyle/>
                    <a:p>
                      <a:pPr>
                        <a:buNone/>
                      </a:pPr>
                      <a:r>
                        <a:rPr lang="en-IN" sz="1700" dirty="0">
                          <a:latin typeface="Times New Roman" panose="02020603050405020304" pitchFamily="18" charset="0"/>
                          <a:cs typeface="Times New Roman" panose="02020603050405020304" pitchFamily="18" charset="0"/>
                        </a:rPr>
                        <a:t>1</a:t>
                      </a:r>
                    </a:p>
                  </a:txBody>
                  <a:tcPr marL="86811" marR="86811" marT="43406" marB="43406"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endParaRPr lang="en-IN" sz="1700" dirty="0"/>
                    </a:p>
                  </a:txBody>
                  <a:tcPr marL="86811" marR="86811" marT="43406" marB="43406"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buNone/>
                      </a:pPr>
                      <a:r>
                        <a:rPr lang="en-IN" sz="1700">
                          <a:latin typeface="Times New Roman" panose="02020603050405020304" pitchFamily="18" charset="0"/>
                          <a:cs typeface="Times New Roman" panose="02020603050405020304" pitchFamily="18" charset="0"/>
                        </a:rPr>
                        <a:t>Smart Reply – Google</a:t>
                      </a:r>
                    </a:p>
                  </a:txBody>
                  <a:tcPr marL="86811" marR="86811" marT="43406" marB="43406" anchor="ctr">
                    <a:lnL>
                      <a:noFill/>
                    </a:lnL>
                    <a:lnR>
                      <a:noFill/>
                    </a:lnR>
                    <a:lnT>
                      <a:noFill/>
                    </a:lnT>
                    <a:lnB>
                      <a:noFill/>
                    </a:lnB>
                    <a:noFill/>
                  </a:tcPr>
                </a:tc>
                <a:tc>
                  <a:txBody>
                    <a:bodyPr/>
                    <a:lstStyle/>
                    <a:p>
                      <a:pPr>
                        <a:buNone/>
                      </a:pPr>
                      <a:r>
                        <a:rPr lang="en-US" sz="1700">
                          <a:latin typeface="Times New Roman" panose="02020603050405020304" pitchFamily="18" charset="0"/>
                          <a:cs typeface="Times New Roman" panose="02020603050405020304" pitchFamily="18" charset="0"/>
                        </a:rPr>
                        <a:t>End-to-end neural model for generating short, context-aware email replies</a:t>
                      </a:r>
                    </a:p>
                  </a:txBody>
                  <a:tcPr marL="86811" marR="86811" marT="43406" marB="43406" anchor="ctr">
                    <a:lnL>
                      <a:noFill/>
                    </a:lnL>
                    <a:lnR>
                      <a:noFill/>
                    </a:lnR>
                    <a:lnT>
                      <a:noFill/>
                    </a:lnT>
                    <a:lnB>
                      <a:noFill/>
                    </a:lnB>
                    <a:noFill/>
                  </a:tcPr>
                </a:tc>
                <a:tc>
                  <a:txBody>
                    <a:bodyPr/>
                    <a:lstStyle/>
                    <a:p>
                      <a:pPr>
                        <a:buNone/>
                      </a:pPr>
                      <a:r>
                        <a:rPr lang="en-US" sz="1700">
                          <a:latin typeface="Times New Roman" panose="02020603050405020304" pitchFamily="18" charset="0"/>
                          <a:cs typeface="Times New Roman" panose="02020603050405020304" pitchFamily="18" charset="0"/>
                        </a:rPr>
                        <a:t>Supports automated, intelligent follow-up generation</a:t>
                      </a:r>
                    </a:p>
                  </a:txBody>
                  <a:tcPr marL="86811" marR="86811" marT="43406" marB="43406" anchor="ctr">
                    <a:lnL>
                      <a:noFill/>
                    </a:lnL>
                    <a:lnR>
                      <a:noFill/>
                    </a:lnR>
                    <a:lnT>
                      <a:noFill/>
                    </a:lnT>
                    <a:lnB>
                      <a:noFill/>
                    </a:lnB>
                    <a:noFill/>
                  </a:tcPr>
                </a:tc>
                <a:extLst>
                  <a:ext uri="{0D108BD9-81ED-4DB2-BD59-A6C34878D82A}">
                    <a16:rowId xmlns:a16="http://schemas.microsoft.com/office/drawing/2014/main" val="1709667081"/>
                  </a:ext>
                </a:extLst>
              </a:tr>
              <a:tr h="868112">
                <a:tc>
                  <a:txBody>
                    <a:bodyPr/>
                    <a:lstStyle/>
                    <a:p>
                      <a:pPr>
                        <a:buNone/>
                      </a:pPr>
                      <a:r>
                        <a:rPr lang="en-IN" sz="1700" dirty="0">
                          <a:latin typeface="Times New Roman" panose="02020603050405020304" pitchFamily="18" charset="0"/>
                          <a:cs typeface="Times New Roman" panose="02020603050405020304" pitchFamily="18" charset="0"/>
                        </a:rPr>
                        <a:t>2</a:t>
                      </a:r>
                    </a:p>
                  </a:txBody>
                  <a:tcPr marL="86811" marR="86811" marT="43406" marB="43406"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endParaRPr lang="en-IN" sz="1700"/>
                    </a:p>
                  </a:txBody>
                  <a:tcPr marL="86811" marR="86811" marT="43406" marB="43406"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buNone/>
                      </a:pPr>
                      <a:r>
                        <a:rPr lang="en-US" sz="1700">
                          <a:latin typeface="Times New Roman" panose="02020603050405020304" pitchFamily="18" charset="0"/>
                          <a:cs typeface="Times New Roman" panose="02020603050405020304" pitchFamily="18" charset="0"/>
                        </a:rPr>
                        <a:t>Characterizing &amp; Predicting Email Reply Behavior</a:t>
                      </a:r>
                    </a:p>
                  </a:txBody>
                  <a:tcPr marL="86811" marR="86811" marT="43406" marB="43406" anchor="ctr">
                    <a:lnL>
                      <a:noFill/>
                    </a:lnL>
                    <a:lnR>
                      <a:noFill/>
                    </a:lnR>
                    <a:lnT>
                      <a:noFill/>
                    </a:lnT>
                    <a:lnB>
                      <a:noFill/>
                    </a:lnB>
                    <a:noFill/>
                  </a:tcPr>
                </a:tc>
                <a:tc>
                  <a:txBody>
                    <a:bodyPr/>
                    <a:lstStyle/>
                    <a:p>
                      <a:pPr>
                        <a:buNone/>
                      </a:pPr>
                      <a:r>
                        <a:rPr lang="en-US" sz="1700">
                          <a:latin typeface="Times New Roman" panose="02020603050405020304" pitchFamily="18" charset="0"/>
                          <a:cs typeface="Times New Roman" panose="02020603050405020304" pitchFamily="18" charset="0"/>
                        </a:rPr>
                        <a:t>Predicts reply likelihood using message and behavioral features</a:t>
                      </a:r>
                    </a:p>
                  </a:txBody>
                  <a:tcPr marL="86811" marR="86811" marT="43406" marB="43406" anchor="ctr">
                    <a:lnL>
                      <a:noFill/>
                    </a:lnL>
                    <a:lnR>
                      <a:noFill/>
                    </a:lnR>
                    <a:lnT>
                      <a:noFill/>
                    </a:lnT>
                    <a:lnB>
                      <a:noFill/>
                    </a:lnB>
                    <a:noFill/>
                  </a:tcPr>
                </a:tc>
                <a:tc>
                  <a:txBody>
                    <a:bodyPr/>
                    <a:lstStyle/>
                    <a:p>
                      <a:pPr>
                        <a:buNone/>
                      </a:pPr>
                      <a:r>
                        <a:rPr lang="en-IN" sz="1700" dirty="0">
                          <a:latin typeface="Times New Roman" panose="02020603050405020304" pitchFamily="18" charset="0"/>
                          <a:cs typeface="Times New Roman" panose="02020603050405020304" pitchFamily="18" charset="0"/>
                        </a:rPr>
                        <a:t>Helps prioritize high-engagement leads</a:t>
                      </a:r>
                    </a:p>
                  </a:txBody>
                  <a:tcPr marL="86811" marR="86811" marT="43406" marB="43406" anchor="ctr">
                    <a:lnL>
                      <a:noFill/>
                    </a:lnL>
                    <a:lnR>
                      <a:noFill/>
                    </a:lnR>
                    <a:lnT>
                      <a:noFill/>
                    </a:lnT>
                    <a:lnB>
                      <a:noFill/>
                    </a:lnB>
                    <a:noFill/>
                  </a:tcPr>
                </a:tc>
                <a:extLst>
                  <a:ext uri="{0D108BD9-81ED-4DB2-BD59-A6C34878D82A}">
                    <a16:rowId xmlns:a16="http://schemas.microsoft.com/office/drawing/2014/main" val="936867392"/>
                  </a:ext>
                </a:extLst>
              </a:tr>
              <a:tr h="868112">
                <a:tc>
                  <a:txBody>
                    <a:bodyPr/>
                    <a:lstStyle/>
                    <a:p>
                      <a:pPr>
                        <a:buNone/>
                      </a:pPr>
                      <a:r>
                        <a:rPr lang="en-IN" sz="1700" dirty="0">
                          <a:latin typeface="Times New Roman" panose="02020603050405020304" pitchFamily="18" charset="0"/>
                          <a:cs typeface="Times New Roman" panose="02020603050405020304" pitchFamily="18" charset="0"/>
                        </a:rPr>
                        <a:t>3</a:t>
                      </a:r>
                    </a:p>
                  </a:txBody>
                  <a:tcPr marL="86811" marR="86811" marT="43406" marB="43406"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endParaRPr lang="en-IN" sz="1700" dirty="0"/>
                    </a:p>
                  </a:txBody>
                  <a:tcPr marL="86811" marR="86811" marT="43406" marB="43406"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buNone/>
                      </a:pPr>
                      <a:r>
                        <a:rPr lang="en-US" sz="1700" dirty="0">
                          <a:latin typeface="Times New Roman" panose="02020603050405020304" pitchFamily="18" charset="0"/>
                          <a:cs typeface="Times New Roman" panose="02020603050405020304" pitchFamily="18" charset="0"/>
                        </a:rPr>
                        <a:t>Automating Lead Scoring with Machine Learning</a:t>
                      </a:r>
                    </a:p>
                  </a:txBody>
                  <a:tcPr marL="86811" marR="86811" marT="43406" marB="43406" anchor="ctr">
                    <a:lnL>
                      <a:noFill/>
                    </a:lnL>
                    <a:lnR>
                      <a:noFill/>
                    </a:lnR>
                    <a:lnT>
                      <a:noFill/>
                    </a:lnT>
                    <a:lnB>
                      <a:noFill/>
                    </a:lnB>
                    <a:noFill/>
                  </a:tcPr>
                </a:tc>
                <a:tc>
                  <a:txBody>
                    <a:bodyPr/>
                    <a:lstStyle/>
                    <a:p>
                      <a:pPr>
                        <a:buNone/>
                      </a:pPr>
                      <a:r>
                        <a:rPr lang="en-US" sz="1700" dirty="0">
                          <a:latin typeface="Times New Roman" panose="02020603050405020304" pitchFamily="18" charset="0"/>
                          <a:cs typeface="Times New Roman" panose="02020603050405020304" pitchFamily="18" charset="0"/>
                        </a:rPr>
                        <a:t>Applies supervised ML models for accurate lead scoring</a:t>
                      </a:r>
                    </a:p>
                  </a:txBody>
                  <a:tcPr marL="86811" marR="86811" marT="43406" marB="43406" anchor="ctr">
                    <a:lnL>
                      <a:noFill/>
                    </a:lnL>
                    <a:lnR>
                      <a:noFill/>
                    </a:lnR>
                    <a:lnT>
                      <a:noFill/>
                    </a:lnT>
                    <a:lnB>
                      <a:noFill/>
                    </a:lnB>
                    <a:noFill/>
                  </a:tcPr>
                </a:tc>
                <a:tc>
                  <a:txBody>
                    <a:bodyPr/>
                    <a:lstStyle/>
                    <a:p>
                      <a:pPr>
                        <a:buNone/>
                      </a:pPr>
                      <a:r>
                        <a:rPr lang="en-US" sz="1700">
                          <a:latin typeface="Times New Roman" panose="02020603050405020304" pitchFamily="18" charset="0"/>
                          <a:cs typeface="Times New Roman" panose="02020603050405020304" pitchFamily="18" charset="0"/>
                        </a:rPr>
                        <a:t>Foundation for AI-based lead qualification system</a:t>
                      </a:r>
                    </a:p>
                  </a:txBody>
                  <a:tcPr marL="86811" marR="86811" marT="43406" marB="43406" anchor="ctr">
                    <a:lnL>
                      <a:noFill/>
                    </a:lnL>
                    <a:lnR>
                      <a:noFill/>
                    </a:lnR>
                    <a:lnT>
                      <a:noFill/>
                    </a:lnT>
                    <a:lnB>
                      <a:noFill/>
                    </a:lnB>
                    <a:noFill/>
                  </a:tcPr>
                </a:tc>
                <a:extLst>
                  <a:ext uri="{0D108BD9-81ED-4DB2-BD59-A6C34878D82A}">
                    <a16:rowId xmlns:a16="http://schemas.microsoft.com/office/drawing/2014/main" val="1952176219"/>
                  </a:ext>
                </a:extLst>
              </a:tr>
              <a:tr h="868112">
                <a:tc>
                  <a:txBody>
                    <a:bodyPr/>
                    <a:lstStyle/>
                    <a:p>
                      <a:pPr>
                        <a:buNone/>
                      </a:pPr>
                      <a:r>
                        <a:rPr lang="en-IN" sz="1700" dirty="0">
                          <a:latin typeface="Times New Roman" panose="02020603050405020304" pitchFamily="18" charset="0"/>
                          <a:cs typeface="Times New Roman" panose="02020603050405020304" pitchFamily="18" charset="0"/>
                        </a:rPr>
                        <a:t>4</a:t>
                      </a:r>
                    </a:p>
                  </a:txBody>
                  <a:tcPr marL="86811" marR="86811" marT="43406" marB="43406"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endParaRPr lang="en-IN" sz="1700"/>
                    </a:p>
                  </a:txBody>
                  <a:tcPr marL="86811" marR="86811" marT="43406" marB="43406"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buNone/>
                      </a:pPr>
                      <a:r>
                        <a:rPr lang="en-US" sz="1700">
                          <a:latin typeface="Times New Roman" panose="02020603050405020304" pitchFamily="18" charset="0"/>
                          <a:cs typeface="Times New Roman" panose="02020603050405020304" pitchFamily="18" charset="0"/>
                        </a:rPr>
                        <a:t>Mercure: Automatic E-mail Follow-up System</a:t>
                      </a:r>
                    </a:p>
                  </a:txBody>
                  <a:tcPr marL="86811" marR="86811" marT="43406" marB="43406" anchor="ctr">
                    <a:lnL>
                      <a:noFill/>
                    </a:lnL>
                    <a:lnR>
                      <a:noFill/>
                    </a:lnR>
                    <a:lnT>
                      <a:noFill/>
                    </a:lnT>
                    <a:lnB>
                      <a:noFill/>
                    </a:lnB>
                    <a:noFill/>
                  </a:tcPr>
                </a:tc>
                <a:tc>
                  <a:txBody>
                    <a:bodyPr/>
                    <a:lstStyle/>
                    <a:p>
                      <a:pPr>
                        <a:buNone/>
                      </a:pPr>
                      <a:r>
                        <a:rPr lang="en-US" sz="1700" dirty="0">
                          <a:latin typeface="Times New Roman" panose="02020603050405020304" pitchFamily="18" charset="0"/>
                          <a:cs typeface="Times New Roman" panose="02020603050405020304" pitchFamily="18" charset="0"/>
                        </a:rPr>
                        <a:t>Combines classification and reasoning for automated responses</a:t>
                      </a:r>
                    </a:p>
                  </a:txBody>
                  <a:tcPr marL="86811" marR="86811" marT="43406" marB="43406" anchor="ctr">
                    <a:lnL>
                      <a:noFill/>
                    </a:lnL>
                    <a:lnR>
                      <a:noFill/>
                    </a:lnR>
                    <a:lnT>
                      <a:noFill/>
                    </a:lnT>
                    <a:lnB>
                      <a:noFill/>
                    </a:lnB>
                    <a:noFill/>
                  </a:tcPr>
                </a:tc>
                <a:tc>
                  <a:txBody>
                    <a:bodyPr/>
                    <a:lstStyle/>
                    <a:p>
                      <a:pPr>
                        <a:buNone/>
                      </a:pPr>
                      <a:r>
                        <a:rPr lang="en-US" sz="1700">
                          <a:latin typeface="Times New Roman" panose="02020603050405020304" pitchFamily="18" charset="0"/>
                          <a:cs typeface="Times New Roman" panose="02020603050405020304" pitchFamily="18" charset="0"/>
                        </a:rPr>
                        <a:t>Ensures structured and reliable follow-up automation</a:t>
                      </a:r>
                    </a:p>
                  </a:txBody>
                  <a:tcPr marL="86811" marR="86811" marT="43406" marB="43406" anchor="ctr">
                    <a:lnL>
                      <a:noFill/>
                    </a:lnL>
                    <a:lnR>
                      <a:noFill/>
                    </a:lnR>
                    <a:lnT>
                      <a:noFill/>
                    </a:lnT>
                    <a:lnB>
                      <a:noFill/>
                    </a:lnB>
                    <a:noFill/>
                  </a:tcPr>
                </a:tc>
                <a:extLst>
                  <a:ext uri="{0D108BD9-81ED-4DB2-BD59-A6C34878D82A}">
                    <a16:rowId xmlns:a16="http://schemas.microsoft.com/office/drawing/2014/main" val="1648436617"/>
                  </a:ext>
                </a:extLst>
              </a:tr>
              <a:tr h="868112">
                <a:tc>
                  <a:txBody>
                    <a:bodyPr/>
                    <a:lstStyle/>
                    <a:p>
                      <a:pPr>
                        <a:buNone/>
                      </a:pPr>
                      <a:r>
                        <a:rPr lang="en-IN" sz="1700" dirty="0">
                          <a:latin typeface="Times New Roman" panose="02020603050405020304" pitchFamily="18" charset="0"/>
                          <a:cs typeface="Times New Roman" panose="02020603050405020304" pitchFamily="18" charset="0"/>
                        </a:rPr>
                        <a:t>5</a:t>
                      </a:r>
                    </a:p>
                  </a:txBody>
                  <a:tcPr marL="86811" marR="86811" marT="43406" marB="43406"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endParaRPr lang="en-IN" sz="1700" dirty="0">
                        <a:latin typeface="Times New Roman" panose="02020603050405020304" pitchFamily="18" charset="0"/>
                        <a:cs typeface="Times New Roman" panose="02020603050405020304" pitchFamily="18" charset="0"/>
                      </a:endParaRPr>
                    </a:p>
                  </a:txBody>
                  <a:tcPr marL="86811" marR="86811" marT="43406" marB="43406"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buNone/>
                      </a:pPr>
                      <a:r>
                        <a:rPr lang="en-IN" sz="1700">
                          <a:latin typeface="Times New Roman" panose="02020603050405020304" pitchFamily="18" charset="0"/>
                          <a:cs typeface="Times New Roman" panose="02020603050405020304" pitchFamily="18" charset="0"/>
                        </a:rPr>
                        <a:t>Intent-Matching Customer Service Chatbot</a:t>
                      </a:r>
                    </a:p>
                  </a:txBody>
                  <a:tcPr marL="86811" marR="86811" marT="43406" marB="43406" anchor="ctr">
                    <a:lnL>
                      <a:noFill/>
                    </a:lnL>
                    <a:lnR>
                      <a:noFill/>
                    </a:lnR>
                    <a:lnT>
                      <a:noFill/>
                    </a:lnT>
                    <a:lnB>
                      <a:noFill/>
                    </a:lnB>
                    <a:noFill/>
                  </a:tcPr>
                </a:tc>
                <a:tc>
                  <a:txBody>
                    <a:bodyPr/>
                    <a:lstStyle/>
                    <a:p>
                      <a:pPr>
                        <a:buNone/>
                      </a:pPr>
                      <a:r>
                        <a:rPr lang="en-US" sz="1700" dirty="0">
                          <a:latin typeface="Times New Roman" panose="02020603050405020304" pitchFamily="18" charset="0"/>
                          <a:cs typeface="Times New Roman" panose="02020603050405020304" pitchFamily="18" charset="0"/>
                        </a:rPr>
                        <a:t>Uses NLU for intent detection and response selection</a:t>
                      </a:r>
                    </a:p>
                  </a:txBody>
                  <a:tcPr marL="86811" marR="86811" marT="43406" marB="43406" anchor="ctr">
                    <a:lnL>
                      <a:noFill/>
                    </a:lnL>
                    <a:lnR>
                      <a:noFill/>
                    </a:lnR>
                    <a:lnT>
                      <a:noFill/>
                    </a:lnT>
                    <a:lnB>
                      <a:noFill/>
                    </a:lnB>
                    <a:noFill/>
                  </a:tcPr>
                </a:tc>
                <a:tc>
                  <a:txBody>
                    <a:bodyPr/>
                    <a:lstStyle/>
                    <a:p>
                      <a:pPr>
                        <a:buNone/>
                      </a:pPr>
                      <a:r>
                        <a:rPr lang="en-US" sz="1700" dirty="0">
                          <a:latin typeface="Times New Roman" panose="02020603050405020304" pitchFamily="18" charset="0"/>
                          <a:cs typeface="Times New Roman" panose="02020603050405020304" pitchFamily="18" charset="0"/>
                        </a:rPr>
                        <a:t>Enables intent-driven scoring and contextual messaging</a:t>
                      </a:r>
                    </a:p>
                  </a:txBody>
                  <a:tcPr marL="86811" marR="86811" marT="43406" marB="43406" anchor="ctr">
                    <a:lnL>
                      <a:noFill/>
                    </a:lnL>
                    <a:lnR>
                      <a:noFill/>
                    </a:lnR>
                    <a:lnT>
                      <a:noFill/>
                    </a:lnT>
                    <a:lnB>
                      <a:noFill/>
                    </a:lnB>
                    <a:noFill/>
                  </a:tcPr>
                </a:tc>
                <a:extLst>
                  <a:ext uri="{0D108BD9-81ED-4DB2-BD59-A6C34878D82A}">
                    <a16:rowId xmlns:a16="http://schemas.microsoft.com/office/drawing/2014/main" val="2894099580"/>
                  </a:ext>
                </a:extLst>
              </a:tr>
            </a:tbl>
          </a:graphicData>
        </a:graphic>
      </p:graphicFrame>
      <p:sp>
        <p:nvSpPr>
          <p:cNvPr id="4" name="Footer Placeholder 3">
            <a:extLst>
              <a:ext uri="{FF2B5EF4-FFF2-40B4-BE49-F238E27FC236}">
                <a16:creationId xmlns:a16="http://schemas.microsoft.com/office/drawing/2014/main" id="{0FDA4FCE-BA08-8C2E-5AF9-F6B6E60CED29}"/>
              </a:ext>
            </a:extLst>
          </p:cNvPr>
          <p:cNvSpPr>
            <a:spLocks noGrp="1"/>
          </p:cNvSpPr>
          <p:nvPr>
            <p:ph type="ftr" sz="quarter" idx="11"/>
          </p:nvPr>
        </p:nvSpPr>
        <p:spPr/>
        <p:txBody>
          <a:bodyPr/>
          <a:lstStyle/>
          <a:p>
            <a:r>
              <a:rPr lang="en-IN" dirty="0"/>
              <a:t>Mini Project Topic Approval</a:t>
            </a:r>
          </a:p>
        </p:txBody>
      </p:sp>
      <p:sp>
        <p:nvSpPr>
          <p:cNvPr id="5" name="Slide Number Placeholder 4">
            <a:extLst>
              <a:ext uri="{FF2B5EF4-FFF2-40B4-BE49-F238E27FC236}">
                <a16:creationId xmlns:a16="http://schemas.microsoft.com/office/drawing/2014/main" id="{9DDEE312-0005-C401-9F52-64FDF571CA5C}"/>
              </a:ext>
            </a:extLst>
          </p:cNvPr>
          <p:cNvSpPr>
            <a:spLocks noGrp="1"/>
          </p:cNvSpPr>
          <p:nvPr>
            <p:ph type="sldNum" sz="quarter" idx="12"/>
          </p:nvPr>
        </p:nvSpPr>
        <p:spPr/>
        <p:txBody>
          <a:bodyPr/>
          <a:lstStyle/>
          <a:p>
            <a:fld id="{1E2AE893-BA06-4F67-8C19-46525B8E0FBB}" type="slidenum">
              <a:rPr lang="en-IN" smtClean="0"/>
              <a:pPr/>
              <a:t>4</a:t>
            </a:fld>
            <a:endParaRPr lang="en-IN"/>
          </a:p>
        </p:txBody>
      </p:sp>
      <p:sp>
        <p:nvSpPr>
          <p:cNvPr id="16" name="TextBox 15">
            <a:extLst>
              <a:ext uri="{FF2B5EF4-FFF2-40B4-BE49-F238E27FC236}">
                <a16:creationId xmlns:a16="http://schemas.microsoft.com/office/drawing/2014/main" id="{8FC6747A-3CA7-DE16-FFE7-4BD5553DC289}"/>
              </a:ext>
            </a:extLst>
          </p:cNvPr>
          <p:cNvSpPr txBox="1"/>
          <p:nvPr/>
        </p:nvSpPr>
        <p:spPr>
          <a:xfrm>
            <a:off x="2310938" y="1270878"/>
            <a:ext cx="105556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Year</a:t>
            </a:r>
            <a:endParaRPr lang="en-IN"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2D9D40D5-D5C2-76A5-649E-5E1515D27ECD}"/>
              </a:ext>
            </a:extLst>
          </p:cNvPr>
          <p:cNvSpPr txBox="1"/>
          <p:nvPr/>
        </p:nvSpPr>
        <p:spPr>
          <a:xfrm>
            <a:off x="2386052" y="1945763"/>
            <a:ext cx="128970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E221782F-7C0C-B085-4B6E-3C413631AD70}"/>
              </a:ext>
            </a:extLst>
          </p:cNvPr>
          <p:cNvSpPr txBox="1"/>
          <p:nvPr/>
        </p:nvSpPr>
        <p:spPr>
          <a:xfrm>
            <a:off x="2386052" y="2875971"/>
            <a:ext cx="98921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2024</a:t>
            </a:r>
            <a:endParaRPr lang="en-IN"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60FE577B-68CF-D5F7-7CA1-FB4F3C801567}"/>
              </a:ext>
            </a:extLst>
          </p:cNvPr>
          <p:cNvSpPr txBox="1"/>
          <p:nvPr/>
        </p:nvSpPr>
        <p:spPr>
          <a:xfrm>
            <a:off x="2386052" y="3838695"/>
            <a:ext cx="102246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2023</a:t>
            </a:r>
            <a:endParaRPr lang="en-IN"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D75498DB-A6D3-7949-ABA5-C2C7696534ED}"/>
              </a:ext>
            </a:extLst>
          </p:cNvPr>
          <p:cNvSpPr txBox="1"/>
          <p:nvPr/>
        </p:nvSpPr>
        <p:spPr>
          <a:xfrm>
            <a:off x="2386052" y="4595153"/>
            <a:ext cx="652743"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2022</a:t>
            </a:r>
            <a:endParaRPr lang="en-IN"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91929CD3-1B44-C9B1-A56E-83D1C4F71C46}"/>
              </a:ext>
            </a:extLst>
          </p:cNvPr>
          <p:cNvSpPr txBox="1"/>
          <p:nvPr/>
        </p:nvSpPr>
        <p:spPr>
          <a:xfrm>
            <a:off x="2386052" y="5444609"/>
            <a:ext cx="652743" cy="369332"/>
          </a:xfrm>
          <a:prstGeom prst="rect">
            <a:avLst/>
          </a:prstGeom>
          <a:noFill/>
        </p:spPr>
        <p:txBody>
          <a:bodyPr wrap="none" rtlCol="0">
            <a:spAutoFit/>
          </a:bodyPr>
          <a:lstStyle/>
          <a:p>
            <a:r>
              <a:rPr lang="en-US" dirty="0"/>
              <a:t>2022</a:t>
            </a:r>
            <a:endParaRPr lang="en-IN" dirty="0"/>
          </a:p>
        </p:txBody>
      </p:sp>
      <p:graphicFrame>
        <p:nvGraphicFramePr>
          <p:cNvPr id="24" name="Table 23">
            <a:extLst>
              <a:ext uri="{FF2B5EF4-FFF2-40B4-BE49-F238E27FC236}">
                <a16:creationId xmlns:a16="http://schemas.microsoft.com/office/drawing/2014/main" id="{542F4C74-D878-8D9F-6AE0-E689E496EEAE}"/>
              </a:ext>
            </a:extLst>
          </p:cNvPr>
          <p:cNvGraphicFramePr>
            <a:graphicFrameLocks noGrp="1"/>
          </p:cNvGraphicFramePr>
          <p:nvPr>
            <p:extLst>
              <p:ext uri="{D42A27DB-BD31-4B8C-83A1-F6EECF244321}">
                <p14:modId xmlns:p14="http://schemas.microsoft.com/office/powerpoint/2010/main" val="1039759825"/>
              </p:ext>
            </p:extLst>
          </p:nvPr>
        </p:nvGraphicFramePr>
        <p:xfrm>
          <a:off x="3433156" y="1238596"/>
          <a:ext cx="2610197" cy="4921135"/>
        </p:xfrm>
        <a:graphic>
          <a:graphicData uri="http://schemas.openxmlformats.org/drawingml/2006/table">
            <a:tbl>
              <a:tblPr/>
              <a:tblGrid>
                <a:gridCol w="2610197">
                  <a:extLst>
                    <a:ext uri="{9D8B030D-6E8A-4147-A177-3AD203B41FA5}">
                      <a16:colId xmlns:a16="http://schemas.microsoft.com/office/drawing/2014/main" val="1177928491"/>
                    </a:ext>
                  </a:extLst>
                </a:gridCol>
              </a:tblGrid>
              <a:tr h="492113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401768567"/>
                  </a:ext>
                </a:extLst>
              </a:tr>
            </a:tbl>
          </a:graphicData>
        </a:graphic>
      </p:graphicFrame>
      <p:graphicFrame>
        <p:nvGraphicFramePr>
          <p:cNvPr id="25" name="Table 24">
            <a:extLst>
              <a:ext uri="{FF2B5EF4-FFF2-40B4-BE49-F238E27FC236}">
                <a16:creationId xmlns:a16="http://schemas.microsoft.com/office/drawing/2014/main" id="{5C0824E8-D74A-9223-EA14-18F9F4D13328}"/>
              </a:ext>
            </a:extLst>
          </p:cNvPr>
          <p:cNvGraphicFramePr>
            <a:graphicFrameLocks noGrp="1"/>
          </p:cNvGraphicFramePr>
          <p:nvPr>
            <p:extLst>
              <p:ext uri="{D42A27DB-BD31-4B8C-83A1-F6EECF244321}">
                <p14:modId xmlns:p14="http://schemas.microsoft.com/office/powerpoint/2010/main" val="4075044128"/>
              </p:ext>
            </p:extLst>
          </p:nvPr>
        </p:nvGraphicFramePr>
        <p:xfrm>
          <a:off x="6043353" y="1238596"/>
          <a:ext cx="2402379" cy="4921135"/>
        </p:xfrm>
        <a:graphic>
          <a:graphicData uri="http://schemas.openxmlformats.org/drawingml/2006/table">
            <a:tbl>
              <a:tblPr/>
              <a:tblGrid>
                <a:gridCol w="2402379">
                  <a:extLst>
                    <a:ext uri="{9D8B030D-6E8A-4147-A177-3AD203B41FA5}">
                      <a16:colId xmlns:a16="http://schemas.microsoft.com/office/drawing/2014/main" val="1632005620"/>
                    </a:ext>
                  </a:extLst>
                </a:gridCol>
              </a:tblGrid>
              <a:tr h="492113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732508706"/>
                  </a:ext>
                </a:extLst>
              </a:tr>
            </a:tbl>
          </a:graphicData>
        </a:graphic>
      </p:graphicFrame>
      <p:graphicFrame>
        <p:nvGraphicFramePr>
          <p:cNvPr id="26" name="Table 25">
            <a:extLst>
              <a:ext uri="{FF2B5EF4-FFF2-40B4-BE49-F238E27FC236}">
                <a16:creationId xmlns:a16="http://schemas.microsoft.com/office/drawing/2014/main" id="{698BAA35-2AE7-EA20-7F92-83EA83401809}"/>
              </a:ext>
            </a:extLst>
          </p:cNvPr>
          <p:cNvGraphicFramePr>
            <a:graphicFrameLocks noGrp="1"/>
          </p:cNvGraphicFramePr>
          <p:nvPr>
            <p:extLst>
              <p:ext uri="{D42A27DB-BD31-4B8C-83A1-F6EECF244321}">
                <p14:modId xmlns:p14="http://schemas.microsoft.com/office/powerpoint/2010/main" val="210700061"/>
              </p:ext>
            </p:extLst>
          </p:nvPr>
        </p:nvGraphicFramePr>
        <p:xfrm>
          <a:off x="8454044" y="1230283"/>
          <a:ext cx="2477192" cy="4921135"/>
        </p:xfrm>
        <a:graphic>
          <a:graphicData uri="http://schemas.openxmlformats.org/drawingml/2006/table">
            <a:tbl>
              <a:tblPr/>
              <a:tblGrid>
                <a:gridCol w="2477192">
                  <a:extLst>
                    <a:ext uri="{9D8B030D-6E8A-4147-A177-3AD203B41FA5}">
                      <a16:colId xmlns:a16="http://schemas.microsoft.com/office/drawing/2014/main" val="4196171062"/>
                    </a:ext>
                  </a:extLst>
                </a:gridCol>
              </a:tblGrid>
              <a:tr h="492113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12621254"/>
                  </a:ext>
                </a:extLst>
              </a:tr>
            </a:tbl>
          </a:graphicData>
        </a:graphic>
      </p:graphicFrame>
      <p:graphicFrame>
        <p:nvGraphicFramePr>
          <p:cNvPr id="27" name="Table 26">
            <a:extLst>
              <a:ext uri="{FF2B5EF4-FFF2-40B4-BE49-F238E27FC236}">
                <a16:creationId xmlns:a16="http://schemas.microsoft.com/office/drawing/2014/main" id="{7DBF4F60-BBEE-9632-C27D-A548BC809041}"/>
              </a:ext>
            </a:extLst>
          </p:cNvPr>
          <p:cNvGraphicFramePr>
            <a:graphicFrameLocks noGrp="1"/>
          </p:cNvGraphicFramePr>
          <p:nvPr>
            <p:extLst>
              <p:ext uri="{D42A27DB-BD31-4B8C-83A1-F6EECF244321}">
                <p14:modId xmlns:p14="http://schemas.microsoft.com/office/powerpoint/2010/main" val="2603656581"/>
              </p:ext>
            </p:extLst>
          </p:nvPr>
        </p:nvGraphicFramePr>
        <p:xfrm>
          <a:off x="1936865" y="1238596"/>
          <a:ext cx="1496291" cy="4921135"/>
        </p:xfrm>
        <a:graphic>
          <a:graphicData uri="http://schemas.openxmlformats.org/drawingml/2006/table">
            <a:tbl>
              <a:tblPr/>
              <a:tblGrid>
                <a:gridCol w="1496291">
                  <a:extLst>
                    <a:ext uri="{9D8B030D-6E8A-4147-A177-3AD203B41FA5}">
                      <a16:colId xmlns:a16="http://schemas.microsoft.com/office/drawing/2014/main" val="4150110876"/>
                    </a:ext>
                  </a:extLst>
                </a:gridCol>
              </a:tblGrid>
              <a:tr h="492113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433076518"/>
                  </a:ext>
                </a:extLst>
              </a:tr>
            </a:tbl>
          </a:graphicData>
        </a:graphic>
      </p:graphicFrame>
      <p:graphicFrame>
        <p:nvGraphicFramePr>
          <p:cNvPr id="28" name="Table 27">
            <a:extLst>
              <a:ext uri="{FF2B5EF4-FFF2-40B4-BE49-F238E27FC236}">
                <a16:creationId xmlns:a16="http://schemas.microsoft.com/office/drawing/2014/main" id="{06FA8750-D922-73A8-6487-B2C8E6BE5797}"/>
              </a:ext>
            </a:extLst>
          </p:cNvPr>
          <p:cNvGraphicFramePr>
            <a:graphicFrameLocks noGrp="1"/>
          </p:cNvGraphicFramePr>
          <p:nvPr>
            <p:extLst>
              <p:ext uri="{D42A27DB-BD31-4B8C-83A1-F6EECF244321}">
                <p14:modId xmlns:p14="http://schemas.microsoft.com/office/powerpoint/2010/main" val="1386393954"/>
              </p:ext>
            </p:extLst>
          </p:nvPr>
        </p:nvGraphicFramePr>
        <p:xfrm>
          <a:off x="980902" y="1246909"/>
          <a:ext cx="964276" cy="4921135"/>
        </p:xfrm>
        <a:graphic>
          <a:graphicData uri="http://schemas.openxmlformats.org/drawingml/2006/table">
            <a:tbl>
              <a:tblPr/>
              <a:tblGrid>
                <a:gridCol w="964276">
                  <a:extLst>
                    <a:ext uri="{9D8B030D-6E8A-4147-A177-3AD203B41FA5}">
                      <a16:colId xmlns:a16="http://schemas.microsoft.com/office/drawing/2014/main" val="67297146"/>
                    </a:ext>
                  </a:extLst>
                </a:gridCol>
              </a:tblGrid>
              <a:tr h="4921135">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668830627"/>
                  </a:ext>
                </a:extLst>
              </a:tr>
            </a:tbl>
          </a:graphicData>
        </a:graphic>
      </p:graphicFrame>
      <p:graphicFrame>
        <p:nvGraphicFramePr>
          <p:cNvPr id="31" name="Table 30">
            <a:extLst>
              <a:ext uri="{FF2B5EF4-FFF2-40B4-BE49-F238E27FC236}">
                <a16:creationId xmlns:a16="http://schemas.microsoft.com/office/drawing/2014/main" id="{2DC90350-D9EA-7BCC-3877-F84E5EBFCD3E}"/>
              </a:ext>
            </a:extLst>
          </p:cNvPr>
          <p:cNvGraphicFramePr>
            <a:graphicFrameLocks noGrp="1"/>
          </p:cNvGraphicFramePr>
          <p:nvPr>
            <p:extLst>
              <p:ext uri="{D42A27DB-BD31-4B8C-83A1-F6EECF244321}">
                <p14:modId xmlns:p14="http://schemas.microsoft.com/office/powerpoint/2010/main" val="2033074342"/>
              </p:ext>
            </p:extLst>
          </p:nvPr>
        </p:nvGraphicFramePr>
        <p:xfrm>
          <a:off x="980902" y="1230284"/>
          <a:ext cx="9950334" cy="365760"/>
        </p:xfrm>
        <a:graphic>
          <a:graphicData uri="http://schemas.openxmlformats.org/drawingml/2006/table">
            <a:tbl>
              <a:tblPr/>
              <a:tblGrid>
                <a:gridCol w="9950334">
                  <a:extLst>
                    <a:ext uri="{9D8B030D-6E8A-4147-A177-3AD203B41FA5}">
                      <a16:colId xmlns:a16="http://schemas.microsoft.com/office/drawing/2014/main" val="229382228"/>
                    </a:ext>
                  </a:extLst>
                </a:gridCol>
              </a:tblGrid>
              <a:tr h="365760">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971845258"/>
                  </a:ext>
                </a:extLst>
              </a:tr>
            </a:tbl>
          </a:graphicData>
        </a:graphic>
      </p:graphicFrame>
      <p:graphicFrame>
        <p:nvGraphicFramePr>
          <p:cNvPr id="32" name="Table 31">
            <a:extLst>
              <a:ext uri="{FF2B5EF4-FFF2-40B4-BE49-F238E27FC236}">
                <a16:creationId xmlns:a16="http://schemas.microsoft.com/office/drawing/2014/main" id="{60F32341-D01B-E196-0D95-00EBBE938879}"/>
              </a:ext>
            </a:extLst>
          </p:cNvPr>
          <p:cNvGraphicFramePr>
            <a:graphicFrameLocks noGrp="1"/>
          </p:cNvGraphicFramePr>
          <p:nvPr>
            <p:extLst>
              <p:ext uri="{D42A27DB-BD31-4B8C-83A1-F6EECF244321}">
                <p14:modId xmlns:p14="http://schemas.microsoft.com/office/powerpoint/2010/main" val="3740884533"/>
              </p:ext>
            </p:extLst>
          </p:nvPr>
        </p:nvGraphicFramePr>
        <p:xfrm>
          <a:off x="980902" y="2688252"/>
          <a:ext cx="9950334" cy="952723"/>
        </p:xfrm>
        <a:graphic>
          <a:graphicData uri="http://schemas.openxmlformats.org/drawingml/2006/table">
            <a:tbl>
              <a:tblPr/>
              <a:tblGrid>
                <a:gridCol w="9950334">
                  <a:extLst>
                    <a:ext uri="{9D8B030D-6E8A-4147-A177-3AD203B41FA5}">
                      <a16:colId xmlns:a16="http://schemas.microsoft.com/office/drawing/2014/main" val="1546064625"/>
                    </a:ext>
                  </a:extLst>
                </a:gridCol>
              </a:tblGrid>
              <a:tr h="952723">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404610004"/>
                  </a:ext>
                </a:extLst>
              </a:tr>
            </a:tbl>
          </a:graphicData>
        </a:graphic>
      </p:graphicFrame>
      <p:graphicFrame>
        <p:nvGraphicFramePr>
          <p:cNvPr id="33" name="Table 32">
            <a:extLst>
              <a:ext uri="{FF2B5EF4-FFF2-40B4-BE49-F238E27FC236}">
                <a16:creationId xmlns:a16="http://schemas.microsoft.com/office/drawing/2014/main" id="{18B32E74-80E2-08A7-F008-338EEF85A27E}"/>
              </a:ext>
            </a:extLst>
          </p:cNvPr>
          <p:cNvGraphicFramePr>
            <a:graphicFrameLocks noGrp="1"/>
          </p:cNvGraphicFramePr>
          <p:nvPr>
            <p:extLst>
              <p:ext uri="{D42A27DB-BD31-4B8C-83A1-F6EECF244321}">
                <p14:modId xmlns:p14="http://schemas.microsoft.com/office/powerpoint/2010/main" val="2643347297"/>
              </p:ext>
            </p:extLst>
          </p:nvPr>
        </p:nvGraphicFramePr>
        <p:xfrm>
          <a:off x="980902" y="4488873"/>
          <a:ext cx="9950334" cy="881149"/>
        </p:xfrm>
        <a:graphic>
          <a:graphicData uri="http://schemas.openxmlformats.org/drawingml/2006/table">
            <a:tbl>
              <a:tblPr/>
              <a:tblGrid>
                <a:gridCol w="9950334">
                  <a:extLst>
                    <a:ext uri="{9D8B030D-6E8A-4147-A177-3AD203B41FA5}">
                      <a16:colId xmlns:a16="http://schemas.microsoft.com/office/drawing/2014/main" val="1465123304"/>
                    </a:ext>
                  </a:extLst>
                </a:gridCol>
              </a:tblGrid>
              <a:tr h="881149">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795576786"/>
                  </a:ext>
                </a:extLst>
              </a:tr>
            </a:tbl>
          </a:graphicData>
        </a:graphic>
      </p:graphicFrame>
    </p:spTree>
    <p:extLst>
      <p:ext uri="{BB962C8B-B14F-4D97-AF65-F5344CB8AC3E}">
        <p14:creationId xmlns:p14="http://schemas.microsoft.com/office/powerpoint/2010/main" val="757762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AA590-B12C-40B4-9FEF-1163414A654D}"/>
              </a:ext>
            </a:extLst>
          </p:cNvPr>
          <p:cNvSpPr>
            <a:spLocks noGrp="1"/>
          </p:cNvSpPr>
          <p:nvPr>
            <p:ph type="title"/>
          </p:nvPr>
        </p:nvSpPr>
        <p:spPr/>
        <p:txBody>
          <a:bodyPr/>
          <a:lstStyle/>
          <a:p>
            <a:r>
              <a:rPr lang="en-IN" dirty="0"/>
              <a:t>Problem Statement and Objectives:</a:t>
            </a:r>
          </a:p>
        </p:txBody>
      </p:sp>
      <p:sp>
        <p:nvSpPr>
          <p:cNvPr id="3" name="Content Placeholder 2">
            <a:extLst>
              <a:ext uri="{FF2B5EF4-FFF2-40B4-BE49-F238E27FC236}">
                <a16:creationId xmlns:a16="http://schemas.microsoft.com/office/drawing/2014/main" id="{47A308B0-8C32-4BC4-9160-3BE586FC6C3B}"/>
              </a:ext>
            </a:extLst>
          </p:cNvPr>
          <p:cNvSpPr>
            <a:spLocks noGrp="1"/>
          </p:cNvSpPr>
          <p:nvPr>
            <p:ph idx="1"/>
          </p:nvPr>
        </p:nvSpPr>
        <p:spPr>
          <a:xfrm>
            <a:off x="838200" y="1228730"/>
            <a:ext cx="10633364" cy="5695772"/>
          </a:xfrm>
        </p:spPr>
        <p:txBody>
          <a:bodyPr lIns="540000" tIns="0" rIns="540000" bIns="360000" anchor="ctr">
            <a:normAutofit/>
          </a:bodyPr>
          <a:lstStyle/>
          <a:p>
            <a:pPr algn="just"/>
            <a:r>
              <a:rPr lang="en-US" dirty="0"/>
              <a:t>Businesses face inefficiencies in handling inbound leads due to manual workflows, slow response times, and poor tracking mechanisms.</a:t>
            </a:r>
          </a:p>
          <a:p>
            <a:pPr algn="just"/>
            <a:r>
              <a:rPr lang="en-US" dirty="0"/>
              <a:t>Existing systems either depend heavily on manual intervention or implement AI without sufficient safeguards.</a:t>
            </a:r>
          </a:p>
          <a:p>
            <a:pPr algn="just"/>
            <a:r>
              <a:rPr lang="en-US" dirty="0"/>
              <a:t>This creates the need for a controlled, AI-assisted backend system that automates lead qualification, lifecycle management, and intelligent follow-up generation.</a:t>
            </a:r>
          </a:p>
          <a:p>
            <a:pPr marL="0" indent="0">
              <a:buNone/>
            </a:pPr>
            <a:endParaRPr lang="en-US" sz="2000" dirty="0"/>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CA34111F-2AA5-4F70-8EC5-CA7BB5FD3F65}"/>
              </a:ext>
            </a:extLst>
          </p:cNvPr>
          <p:cNvSpPr>
            <a:spLocks noGrp="1"/>
          </p:cNvSpPr>
          <p:nvPr>
            <p:ph type="ftr" sz="quarter" idx="11"/>
          </p:nvPr>
        </p:nvSpPr>
        <p:spPr/>
        <p:txBody>
          <a:bodyPr/>
          <a:lstStyle/>
          <a:p>
            <a:r>
              <a:rPr lang="en-IN"/>
              <a:t>Mini Project Topic Approval</a:t>
            </a:r>
          </a:p>
        </p:txBody>
      </p:sp>
      <p:sp>
        <p:nvSpPr>
          <p:cNvPr id="5" name="Slide Number Placeholder 4">
            <a:extLst>
              <a:ext uri="{FF2B5EF4-FFF2-40B4-BE49-F238E27FC236}">
                <a16:creationId xmlns:a16="http://schemas.microsoft.com/office/drawing/2014/main" id="{EF2C5B87-1FBA-49DD-A74F-05EB7C0F28DD}"/>
              </a:ext>
            </a:extLst>
          </p:cNvPr>
          <p:cNvSpPr>
            <a:spLocks noGrp="1"/>
          </p:cNvSpPr>
          <p:nvPr>
            <p:ph type="sldNum" sz="quarter" idx="12"/>
          </p:nvPr>
        </p:nvSpPr>
        <p:spPr/>
        <p:txBody>
          <a:bodyPr/>
          <a:lstStyle/>
          <a:p>
            <a:fld id="{1E2AE893-BA06-4F67-8C19-46525B8E0FBB}" type="slidenum">
              <a:rPr lang="en-IN" smtClean="0"/>
              <a:pPr/>
              <a:t>5</a:t>
            </a:fld>
            <a:endParaRPr lang="en-IN"/>
          </a:p>
        </p:txBody>
      </p:sp>
    </p:spTree>
    <p:extLst>
      <p:ext uri="{BB962C8B-B14F-4D97-AF65-F5344CB8AC3E}">
        <p14:creationId xmlns:p14="http://schemas.microsoft.com/office/powerpoint/2010/main" val="3205144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005BB-4E40-9747-9ED0-F549B724D2B7}"/>
              </a:ext>
            </a:extLst>
          </p:cNvPr>
          <p:cNvSpPr>
            <a:spLocks noGrp="1"/>
          </p:cNvSpPr>
          <p:nvPr>
            <p:ph type="title"/>
          </p:nvPr>
        </p:nvSpPr>
        <p:spPr>
          <a:xfrm>
            <a:off x="838200" y="136517"/>
            <a:ext cx="10515600" cy="1659032"/>
          </a:xfrm>
        </p:spPr>
        <p:txBody>
          <a:bodyPr/>
          <a:lstStyle/>
          <a:p>
            <a:r>
              <a:rPr lang="en-US" dirty="0"/>
              <a:t>   Objectives:</a:t>
            </a:r>
            <a:endParaRPr lang="en-IN" dirty="0"/>
          </a:p>
        </p:txBody>
      </p:sp>
      <p:sp>
        <p:nvSpPr>
          <p:cNvPr id="4" name="Footer Placeholder 3">
            <a:extLst>
              <a:ext uri="{FF2B5EF4-FFF2-40B4-BE49-F238E27FC236}">
                <a16:creationId xmlns:a16="http://schemas.microsoft.com/office/drawing/2014/main" id="{3FC2E7EB-56CF-5FFD-A160-4B44B4C78F6C}"/>
              </a:ext>
            </a:extLst>
          </p:cNvPr>
          <p:cNvSpPr>
            <a:spLocks noGrp="1"/>
          </p:cNvSpPr>
          <p:nvPr>
            <p:ph type="ftr" sz="quarter" idx="11"/>
          </p:nvPr>
        </p:nvSpPr>
        <p:spPr/>
        <p:txBody>
          <a:bodyPr/>
          <a:lstStyle/>
          <a:p>
            <a:r>
              <a:rPr lang="en-IN"/>
              <a:t>Mini Project Topic Approval</a:t>
            </a:r>
          </a:p>
        </p:txBody>
      </p:sp>
      <p:sp>
        <p:nvSpPr>
          <p:cNvPr id="5" name="Slide Number Placeholder 4">
            <a:extLst>
              <a:ext uri="{FF2B5EF4-FFF2-40B4-BE49-F238E27FC236}">
                <a16:creationId xmlns:a16="http://schemas.microsoft.com/office/drawing/2014/main" id="{BEF57855-3346-8D7F-A4B4-134720AD5E77}"/>
              </a:ext>
            </a:extLst>
          </p:cNvPr>
          <p:cNvSpPr>
            <a:spLocks noGrp="1"/>
          </p:cNvSpPr>
          <p:nvPr>
            <p:ph type="sldNum" sz="quarter" idx="12"/>
          </p:nvPr>
        </p:nvSpPr>
        <p:spPr/>
        <p:txBody>
          <a:bodyPr/>
          <a:lstStyle/>
          <a:p>
            <a:fld id="{1E2AE893-BA06-4F67-8C19-46525B8E0FBB}" type="slidenum">
              <a:rPr lang="en-IN" smtClean="0"/>
              <a:pPr/>
              <a:t>6</a:t>
            </a:fld>
            <a:endParaRPr lang="en-IN"/>
          </a:p>
        </p:txBody>
      </p:sp>
      <p:sp>
        <p:nvSpPr>
          <p:cNvPr id="6" name="Rectangle 1">
            <a:extLst>
              <a:ext uri="{FF2B5EF4-FFF2-40B4-BE49-F238E27FC236}">
                <a16:creationId xmlns:a16="http://schemas.microsoft.com/office/drawing/2014/main" id="{ABB88282-F95D-4C88-A447-92F9B21BF6A7}"/>
              </a:ext>
            </a:extLst>
          </p:cNvPr>
          <p:cNvSpPr>
            <a:spLocks noGrp="1" noChangeArrowheads="1"/>
          </p:cNvSpPr>
          <p:nvPr>
            <p:ph idx="1"/>
          </p:nvPr>
        </p:nvSpPr>
        <p:spPr bwMode="auto">
          <a:xfrm>
            <a:off x="1296785" y="1468175"/>
            <a:ext cx="955132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To design an AI-powered backend system that automatically analyzes and qualifies inbound leads.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To implement intent-driven lead scoring using Natural Language Understanding (NLU) for accurate prioritization.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To reduce response latency through adaptive, context-aware automated follow-ups.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To establish a structured, state-aware lead lifecycle management system for efficient tracking and engagement.</a:t>
            </a:r>
          </a:p>
        </p:txBody>
      </p:sp>
    </p:spTree>
    <p:extLst>
      <p:ext uri="{BB962C8B-B14F-4D97-AF65-F5344CB8AC3E}">
        <p14:creationId xmlns:p14="http://schemas.microsoft.com/office/powerpoint/2010/main" val="287988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AA590-B12C-40B4-9FEF-1163414A654D}"/>
              </a:ext>
            </a:extLst>
          </p:cNvPr>
          <p:cNvSpPr>
            <a:spLocks noGrp="1"/>
          </p:cNvSpPr>
          <p:nvPr>
            <p:ph type="title"/>
          </p:nvPr>
        </p:nvSpPr>
        <p:spPr/>
        <p:txBody>
          <a:bodyPr/>
          <a:lstStyle/>
          <a:p>
            <a:r>
              <a:rPr lang="en-IN" dirty="0"/>
              <a:t>Proposed Structure:</a:t>
            </a:r>
          </a:p>
        </p:txBody>
      </p:sp>
      <p:sp>
        <p:nvSpPr>
          <p:cNvPr id="4" name="Footer Placeholder 3">
            <a:extLst>
              <a:ext uri="{FF2B5EF4-FFF2-40B4-BE49-F238E27FC236}">
                <a16:creationId xmlns:a16="http://schemas.microsoft.com/office/drawing/2014/main" id="{CA34111F-2AA5-4F70-8EC5-CA7BB5FD3F65}"/>
              </a:ext>
            </a:extLst>
          </p:cNvPr>
          <p:cNvSpPr>
            <a:spLocks noGrp="1"/>
          </p:cNvSpPr>
          <p:nvPr>
            <p:ph type="ftr" sz="quarter" idx="11"/>
          </p:nvPr>
        </p:nvSpPr>
        <p:spPr/>
        <p:txBody>
          <a:bodyPr/>
          <a:lstStyle/>
          <a:p>
            <a:r>
              <a:rPr lang="en-IN"/>
              <a:t>Mini Project Topic Approval</a:t>
            </a:r>
          </a:p>
        </p:txBody>
      </p:sp>
      <p:sp>
        <p:nvSpPr>
          <p:cNvPr id="5" name="Slide Number Placeholder 4">
            <a:extLst>
              <a:ext uri="{FF2B5EF4-FFF2-40B4-BE49-F238E27FC236}">
                <a16:creationId xmlns:a16="http://schemas.microsoft.com/office/drawing/2014/main" id="{EF2C5B87-1FBA-49DD-A74F-05EB7C0F28DD}"/>
              </a:ext>
            </a:extLst>
          </p:cNvPr>
          <p:cNvSpPr>
            <a:spLocks noGrp="1"/>
          </p:cNvSpPr>
          <p:nvPr>
            <p:ph type="sldNum" sz="quarter" idx="12"/>
          </p:nvPr>
        </p:nvSpPr>
        <p:spPr/>
        <p:txBody>
          <a:bodyPr/>
          <a:lstStyle/>
          <a:p>
            <a:fld id="{1E2AE893-BA06-4F67-8C19-46525B8E0FBB}" type="slidenum">
              <a:rPr lang="en-IN" smtClean="0"/>
              <a:pPr/>
              <a:t>7</a:t>
            </a:fld>
            <a:endParaRPr lang="en-IN"/>
          </a:p>
        </p:txBody>
      </p:sp>
      <p:pic>
        <p:nvPicPr>
          <p:cNvPr id="11" name="Content Placeholder 10">
            <a:extLst>
              <a:ext uri="{FF2B5EF4-FFF2-40B4-BE49-F238E27FC236}">
                <a16:creationId xmlns:a16="http://schemas.microsoft.com/office/drawing/2014/main" id="{E74DA928-4054-6B1E-E815-7E3EC60E586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3215"/>
          <a:stretch>
            <a:fillRect/>
          </a:stretch>
        </p:blipFill>
        <p:spPr>
          <a:xfrm>
            <a:off x="1962906" y="1313259"/>
            <a:ext cx="8266188" cy="4231482"/>
          </a:xfrm>
          <a:prstGeom prst="rect">
            <a:avLst/>
          </a:prstGeom>
        </p:spPr>
      </p:pic>
    </p:spTree>
    <p:extLst>
      <p:ext uri="{BB962C8B-B14F-4D97-AF65-F5344CB8AC3E}">
        <p14:creationId xmlns:p14="http://schemas.microsoft.com/office/powerpoint/2010/main" val="2297578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929D6-F5BE-D971-904A-3CEED2FD8362}"/>
              </a:ext>
            </a:extLst>
          </p:cNvPr>
          <p:cNvSpPr>
            <a:spLocks noGrp="1"/>
          </p:cNvSpPr>
          <p:nvPr>
            <p:ph type="title"/>
          </p:nvPr>
        </p:nvSpPr>
        <p:spPr/>
        <p:txBody>
          <a:bodyPr/>
          <a:lstStyle/>
          <a:p>
            <a:r>
              <a:rPr lang="en-US" dirty="0"/>
              <a:t>Methodology:</a:t>
            </a:r>
            <a:endParaRPr lang="en-IN" dirty="0"/>
          </a:p>
        </p:txBody>
      </p:sp>
      <p:sp>
        <p:nvSpPr>
          <p:cNvPr id="3" name="Content Placeholder 2">
            <a:extLst>
              <a:ext uri="{FF2B5EF4-FFF2-40B4-BE49-F238E27FC236}">
                <a16:creationId xmlns:a16="http://schemas.microsoft.com/office/drawing/2014/main" id="{3377407C-366D-0B7F-0D6A-BDA8D84E4540}"/>
              </a:ext>
            </a:extLst>
          </p:cNvPr>
          <p:cNvSpPr>
            <a:spLocks noGrp="1"/>
          </p:cNvSpPr>
          <p:nvPr>
            <p:ph idx="1"/>
          </p:nvPr>
        </p:nvSpPr>
        <p:spPr/>
        <p:txBody>
          <a:bodyPr/>
          <a:lstStyle/>
          <a:p>
            <a:pPr algn="just"/>
            <a:r>
              <a:rPr lang="en-US" dirty="0"/>
              <a:t>Collect inbound leads from web forms and emails through the Lead Ingestion Module.</a:t>
            </a:r>
          </a:p>
          <a:p>
            <a:pPr algn="just"/>
            <a:r>
              <a:rPr lang="en-US" dirty="0"/>
              <a:t>Analyze lead content using NLP and rule-based logic to extract intent and key signals.</a:t>
            </a:r>
          </a:p>
          <a:p>
            <a:pPr algn="just"/>
            <a:r>
              <a:rPr lang="en-US" dirty="0"/>
              <a:t>Score and classify leads, then assign structured lifecycle states (New → Qualified → Follow-Up → Replied).</a:t>
            </a:r>
          </a:p>
          <a:p>
            <a:pPr algn="just"/>
            <a:r>
              <a:rPr lang="en-US" dirty="0"/>
              <a:t>Generate adaptive follow-ups and store all data in the database for monitoring via the dashboard.</a:t>
            </a:r>
          </a:p>
          <a:p>
            <a:endParaRPr lang="en-IN" dirty="0"/>
          </a:p>
        </p:txBody>
      </p:sp>
      <p:sp>
        <p:nvSpPr>
          <p:cNvPr id="4" name="Footer Placeholder 3">
            <a:extLst>
              <a:ext uri="{FF2B5EF4-FFF2-40B4-BE49-F238E27FC236}">
                <a16:creationId xmlns:a16="http://schemas.microsoft.com/office/drawing/2014/main" id="{0DAEFC5F-0B7F-5D14-ED78-3EFE4EF8DC7E}"/>
              </a:ext>
            </a:extLst>
          </p:cNvPr>
          <p:cNvSpPr>
            <a:spLocks noGrp="1"/>
          </p:cNvSpPr>
          <p:nvPr>
            <p:ph type="ftr" sz="quarter" idx="11"/>
          </p:nvPr>
        </p:nvSpPr>
        <p:spPr/>
        <p:txBody>
          <a:bodyPr/>
          <a:lstStyle/>
          <a:p>
            <a:r>
              <a:rPr lang="en-IN"/>
              <a:t>Mini Project Topic Approval</a:t>
            </a:r>
          </a:p>
        </p:txBody>
      </p:sp>
      <p:sp>
        <p:nvSpPr>
          <p:cNvPr id="5" name="Slide Number Placeholder 4">
            <a:extLst>
              <a:ext uri="{FF2B5EF4-FFF2-40B4-BE49-F238E27FC236}">
                <a16:creationId xmlns:a16="http://schemas.microsoft.com/office/drawing/2014/main" id="{E9730ABE-087A-9154-EC26-B703CF26FAF7}"/>
              </a:ext>
            </a:extLst>
          </p:cNvPr>
          <p:cNvSpPr>
            <a:spLocks noGrp="1"/>
          </p:cNvSpPr>
          <p:nvPr>
            <p:ph type="sldNum" sz="quarter" idx="12"/>
          </p:nvPr>
        </p:nvSpPr>
        <p:spPr/>
        <p:txBody>
          <a:bodyPr/>
          <a:lstStyle/>
          <a:p>
            <a:fld id="{1E2AE893-BA06-4F67-8C19-46525B8E0FBB}" type="slidenum">
              <a:rPr lang="en-IN" smtClean="0"/>
              <a:pPr/>
              <a:t>8</a:t>
            </a:fld>
            <a:endParaRPr lang="en-IN"/>
          </a:p>
        </p:txBody>
      </p:sp>
    </p:spTree>
    <p:extLst>
      <p:ext uri="{BB962C8B-B14F-4D97-AF65-F5344CB8AC3E}">
        <p14:creationId xmlns:p14="http://schemas.microsoft.com/office/powerpoint/2010/main" val="2323123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642AC-0503-45C7-BE16-CF058F59558E}"/>
              </a:ext>
            </a:extLst>
          </p:cNvPr>
          <p:cNvSpPr>
            <a:spLocks noGrp="1"/>
          </p:cNvSpPr>
          <p:nvPr>
            <p:ph type="title"/>
          </p:nvPr>
        </p:nvSpPr>
        <p:spPr/>
        <p:txBody>
          <a:bodyPr/>
          <a:lstStyle/>
          <a:p>
            <a:r>
              <a:rPr lang="en-IN" dirty="0"/>
              <a:t>Experimental Setup:</a:t>
            </a:r>
          </a:p>
        </p:txBody>
      </p:sp>
      <p:sp>
        <p:nvSpPr>
          <p:cNvPr id="3" name="Content Placeholder 2">
            <a:extLst>
              <a:ext uri="{FF2B5EF4-FFF2-40B4-BE49-F238E27FC236}">
                <a16:creationId xmlns:a16="http://schemas.microsoft.com/office/drawing/2014/main" id="{3730CD50-53DE-46EA-AAD4-69E599DB5164}"/>
              </a:ext>
            </a:extLst>
          </p:cNvPr>
          <p:cNvSpPr>
            <a:spLocks noGrp="1"/>
          </p:cNvSpPr>
          <p:nvPr>
            <p:ph idx="1"/>
          </p:nvPr>
        </p:nvSpPr>
        <p:spPr>
          <a:xfrm>
            <a:off x="838200" y="1228730"/>
            <a:ext cx="6895011" cy="4948233"/>
          </a:xfrm>
        </p:spPr>
        <p:txBody>
          <a:bodyPr>
            <a:normAutofit/>
          </a:bodyPr>
          <a:lstStyle/>
          <a:p>
            <a:pPr algn="just">
              <a:lnSpc>
                <a:spcPts val="2200"/>
              </a:lnSpc>
              <a:spcBef>
                <a:spcPts val="0"/>
              </a:spcBef>
              <a:spcAft>
                <a:spcPts val="600"/>
              </a:spcAft>
            </a:pPr>
            <a:r>
              <a:rPr lang="en-US" dirty="0"/>
              <a:t>Backend: </a:t>
            </a:r>
            <a:r>
              <a:rPr lang="en-US" dirty="0" err="1"/>
              <a:t>FastAPI</a:t>
            </a:r>
            <a:r>
              <a:rPr lang="en-US" dirty="0"/>
              <a:t> (Python)</a:t>
            </a:r>
          </a:p>
          <a:p>
            <a:pPr algn="just">
              <a:lnSpc>
                <a:spcPts val="2200"/>
              </a:lnSpc>
              <a:spcBef>
                <a:spcPts val="0"/>
              </a:spcBef>
              <a:spcAft>
                <a:spcPts val="600"/>
              </a:spcAft>
            </a:pPr>
            <a:r>
              <a:rPr lang="en-US" dirty="0"/>
              <a:t>Frontend: React </a:t>
            </a:r>
          </a:p>
          <a:p>
            <a:pPr algn="just">
              <a:lnSpc>
                <a:spcPts val="2200"/>
              </a:lnSpc>
              <a:spcBef>
                <a:spcPts val="0"/>
              </a:spcBef>
              <a:spcAft>
                <a:spcPts val="600"/>
              </a:spcAft>
            </a:pPr>
            <a:r>
              <a:rPr lang="en-US" dirty="0"/>
              <a:t>Database: Convex </a:t>
            </a:r>
          </a:p>
          <a:p>
            <a:pPr algn="just">
              <a:lnSpc>
                <a:spcPts val="2200"/>
              </a:lnSpc>
              <a:spcBef>
                <a:spcPts val="0"/>
              </a:spcBef>
              <a:spcAft>
                <a:spcPts val="600"/>
              </a:spcAft>
            </a:pPr>
            <a:r>
              <a:rPr lang="en-US" dirty="0"/>
              <a:t>Authentication: Clerk</a:t>
            </a:r>
            <a:endParaRPr lang="en-IN" dirty="0"/>
          </a:p>
        </p:txBody>
      </p:sp>
      <p:sp>
        <p:nvSpPr>
          <p:cNvPr id="4" name="Footer Placeholder 3">
            <a:extLst>
              <a:ext uri="{FF2B5EF4-FFF2-40B4-BE49-F238E27FC236}">
                <a16:creationId xmlns:a16="http://schemas.microsoft.com/office/drawing/2014/main" id="{822E3978-C502-4F84-84D4-48C27758D349}"/>
              </a:ext>
            </a:extLst>
          </p:cNvPr>
          <p:cNvSpPr>
            <a:spLocks noGrp="1"/>
          </p:cNvSpPr>
          <p:nvPr>
            <p:ph type="ftr" sz="quarter" idx="11"/>
          </p:nvPr>
        </p:nvSpPr>
        <p:spPr/>
        <p:txBody>
          <a:bodyPr/>
          <a:lstStyle/>
          <a:p>
            <a:r>
              <a:rPr lang="en-IN" dirty="0"/>
              <a:t>Mini Project Topic Approval</a:t>
            </a:r>
          </a:p>
        </p:txBody>
      </p:sp>
      <p:sp>
        <p:nvSpPr>
          <p:cNvPr id="5" name="Slide Number Placeholder 4">
            <a:extLst>
              <a:ext uri="{FF2B5EF4-FFF2-40B4-BE49-F238E27FC236}">
                <a16:creationId xmlns:a16="http://schemas.microsoft.com/office/drawing/2014/main" id="{4A8A2F3D-E2B2-4822-BFC9-C0BE9A1E1699}"/>
              </a:ext>
            </a:extLst>
          </p:cNvPr>
          <p:cNvSpPr>
            <a:spLocks noGrp="1"/>
          </p:cNvSpPr>
          <p:nvPr>
            <p:ph type="sldNum" sz="quarter" idx="12"/>
          </p:nvPr>
        </p:nvSpPr>
        <p:spPr/>
        <p:txBody>
          <a:bodyPr/>
          <a:lstStyle/>
          <a:p>
            <a:fld id="{1E2AE893-BA06-4F67-8C19-46525B8E0FBB}" type="slidenum">
              <a:rPr lang="en-IN" smtClean="0"/>
              <a:t>9</a:t>
            </a:fld>
            <a:endParaRPr lang="en-IN"/>
          </a:p>
        </p:txBody>
      </p:sp>
    </p:spTree>
    <p:extLst>
      <p:ext uri="{BB962C8B-B14F-4D97-AF65-F5344CB8AC3E}">
        <p14:creationId xmlns:p14="http://schemas.microsoft.com/office/powerpoint/2010/main" val="1530653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AA590-B12C-40B4-9FEF-1163414A654D}"/>
              </a:ext>
            </a:extLst>
          </p:cNvPr>
          <p:cNvSpPr>
            <a:spLocks noGrp="1"/>
          </p:cNvSpPr>
          <p:nvPr>
            <p:ph type="title"/>
          </p:nvPr>
        </p:nvSpPr>
        <p:spPr/>
        <p:txBody>
          <a:bodyPr/>
          <a:lstStyle/>
          <a:p>
            <a:r>
              <a:rPr lang="en-IN" dirty="0"/>
              <a:t>Implementation:</a:t>
            </a:r>
          </a:p>
        </p:txBody>
      </p:sp>
      <p:sp>
        <p:nvSpPr>
          <p:cNvPr id="4" name="Footer Placeholder 3">
            <a:extLst>
              <a:ext uri="{FF2B5EF4-FFF2-40B4-BE49-F238E27FC236}">
                <a16:creationId xmlns:a16="http://schemas.microsoft.com/office/drawing/2014/main" id="{CA34111F-2AA5-4F70-8EC5-CA7BB5FD3F65}"/>
              </a:ext>
            </a:extLst>
          </p:cNvPr>
          <p:cNvSpPr>
            <a:spLocks noGrp="1"/>
          </p:cNvSpPr>
          <p:nvPr>
            <p:ph type="ftr" sz="quarter" idx="11"/>
          </p:nvPr>
        </p:nvSpPr>
        <p:spPr/>
        <p:txBody>
          <a:bodyPr/>
          <a:lstStyle/>
          <a:p>
            <a:r>
              <a:rPr lang="en-IN"/>
              <a:t>Mini Project Topic Approval</a:t>
            </a:r>
          </a:p>
        </p:txBody>
      </p:sp>
      <p:sp>
        <p:nvSpPr>
          <p:cNvPr id="5" name="Slide Number Placeholder 4">
            <a:extLst>
              <a:ext uri="{FF2B5EF4-FFF2-40B4-BE49-F238E27FC236}">
                <a16:creationId xmlns:a16="http://schemas.microsoft.com/office/drawing/2014/main" id="{EF2C5B87-1FBA-49DD-A74F-05EB7C0F28DD}"/>
              </a:ext>
            </a:extLst>
          </p:cNvPr>
          <p:cNvSpPr>
            <a:spLocks noGrp="1"/>
          </p:cNvSpPr>
          <p:nvPr>
            <p:ph type="sldNum" sz="quarter" idx="12"/>
          </p:nvPr>
        </p:nvSpPr>
        <p:spPr/>
        <p:txBody>
          <a:bodyPr/>
          <a:lstStyle/>
          <a:p>
            <a:fld id="{1E2AE893-BA06-4F67-8C19-46525B8E0FBB}" type="slidenum">
              <a:rPr lang="en-IN" smtClean="0"/>
              <a:pPr/>
              <a:t>10</a:t>
            </a:fld>
            <a:endParaRPr lang="en-IN"/>
          </a:p>
        </p:txBody>
      </p:sp>
      <p:pic>
        <p:nvPicPr>
          <p:cNvPr id="7" name="Content Placeholder 6">
            <a:extLst>
              <a:ext uri="{FF2B5EF4-FFF2-40B4-BE49-F238E27FC236}">
                <a16:creationId xmlns:a16="http://schemas.microsoft.com/office/drawing/2014/main" id="{4A3DFA72-301E-AB0C-AF6F-7A24668B11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6875" y="1228725"/>
            <a:ext cx="9238250" cy="4781377"/>
          </a:xfrm>
          <a:prstGeom prst="rect">
            <a:avLst/>
          </a:prstGeom>
        </p:spPr>
      </p:pic>
    </p:spTree>
    <p:extLst>
      <p:ext uri="{BB962C8B-B14F-4D97-AF65-F5344CB8AC3E}">
        <p14:creationId xmlns:p14="http://schemas.microsoft.com/office/powerpoint/2010/main" val="948989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DE27FCF-18CB-F6D6-045B-D1F2B813CF99}"/>
              </a:ext>
            </a:extLst>
          </p:cNvPr>
          <p:cNvSpPr>
            <a:spLocks noGrp="1"/>
          </p:cNvSpPr>
          <p:nvPr>
            <p:ph type="ftr" sz="quarter" idx="11"/>
          </p:nvPr>
        </p:nvSpPr>
        <p:spPr/>
        <p:txBody>
          <a:bodyPr/>
          <a:lstStyle/>
          <a:p>
            <a:r>
              <a:rPr lang="en-IN"/>
              <a:t>Mini Project Topic Approval</a:t>
            </a:r>
          </a:p>
        </p:txBody>
      </p:sp>
      <p:sp>
        <p:nvSpPr>
          <p:cNvPr id="3" name="Slide Number Placeholder 2">
            <a:extLst>
              <a:ext uri="{FF2B5EF4-FFF2-40B4-BE49-F238E27FC236}">
                <a16:creationId xmlns:a16="http://schemas.microsoft.com/office/drawing/2014/main" id="{C5D3845D-FC94-A116-31E8-7208AE7E3E52}"/>
              </a:ext>
            </a:extLst>
          </p:cNvPr>
          <p:cNvSpPr>
            <a:spLocks noGrp="1"/>
          </p:cNvSpPr>
          <p:nvPr>
            <p:ph type="sldNum" sz="quarter" idx="12"/>
          </p:nvPr>
        </p:nvSpPr>
        <p:spPr/>
        <p:txBody>
          <a:bodyPr/>
          <a:lstStyle/>
          <a:p>
            <a:fld id="{1E2AE893-BA06-4F67-8C19-46525B8E0FBB}" type="slidenum">
              <a:rPr lang="en-IN" smtClean="0"/>
              <a:t>11</a:t>
            </a:fld>
            <a:endParaRPr lang="en-IN"/>
          </a:p>
        </p:txBody>
      </p:sp>
      <p:pic>
        <p:nvPicPr>
          <p:cNvPr id="5" name="Picture 4">
            <a:extLst>
              <a:ext uri="{FF2B5EF4-FFF2-40B4-BE49-F238E27FC236}">
                <a16:creationId xmlns:a16="http://schemas.microsoft.com/office/drawing/2014/main" id="{55E39D29-A966-7671-47F4-DC5A73A15D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984" y="266700"/>
            <a:ext cx="10145486" cy="5933803"/>
          </a:xfrm>
          <a:prstGeom prst="rect">
            <a:avLst/>
          </a:prstGeom>
        </p:spPr>
      </p:pic>
    </p:spTree>
    <p:extLst>
      <p:ext uri="{BB962C8B-B14F-4D97-AF65-F5344CB8AC3E}">
        <p14:creationId xmlns:p14="http://schemas.microsoft.com/office/powerpoint/2010/main" val="76463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AA590-B12C-40B4-9FEF-1163414A654D}"/>
              </a:ext>
            </a:extLst>
          </p:cNvPr>
          <p:cNvSpPr>
            <a:spLocks noGrp="1"/>
          </p:cNvSpPr>
          <p:nvPr>
            <p:ph type="title"/>
          </p:nvPr>
        </p:nvSpPr>
        <p:spPr/>
        <p:txBody>
          <a:bodyPr/>
          <a:lstStyle/>
          <a:p>
            <a:r>
              <a:rPr lang="en-IN" dirty="0"/>
              <a:t>Conclusion:</a:t>
            </a:r>
          </a:p>
        </p:txBody>
      </p:sp>
      <p:sp>
        <p:nvSpPr>
          <p:cNvPr id="4" name="Footer Placeholder 3">
            <a:extLst>
              <a:ext uri="{FF2B5EF4-FFF2-40B4-BE49-F238E27FC236}">
                <a16:creationId xmlns:a16="http://schemas.microsoft.com/office/drawing/2014/main" id="{CA34111F-2AA5-4F70-8EC5-CA7BB5FD3F65}"/>
              </a:ext>
            </a:extLst>
          </p:cNvPr>
          <p:cNvSpPr>
            <a:spLocks noGrp="1"/>
          </p:cNvSpPr>
          <p:nvPr>
            <p:ph type="ftr" sz="quarter" idx="11"/>
          </p:nvPr>
        </p:nvSpPr>
        <p:spPr/>
        <p:txBody>
          <a:bodyPr/>
          <a:lstStyle/>
          <a:p>
            <a:r>
              <a:rPr lang="en-IN"/>
              <a:t>Mini Project Topic Approval</a:t>
            </a:r>
          </a:p>
        </p:txBody>
      </p:sp>
      <p:sp>
        <p:nvSpPr>
          <p:cNvPr id="5" name="Slide Number Placeholder 4">
            <a:extLst>
              <a:ext uri="{FF2B5EF4-FFF2-40B4-BE49-F238E27FC236}">
                <a16:creationId xmlns:a16="http://schemas.microsoft.com/office/drawing/2014/main" id="{EF2C5B87-1FBA-49DD-A74F-05EB7C0F28DD}"/>
              </a:ext>
            </a:extLst>
          </p:cNvPr>
          <p:cNvSpPr>
            <a:spLocks noGrp="1"/>
          </p:cNvSpPr>
          <p:nvPr>
            <p:ph type="sldNum" sz="quarter" idx="12"/>
          </p:nvPr>
        </p:nvSpPr>
        <p:spPr/>
        <p:txBody>
          <a:bodyPr/>
          <a:lstStyle/>
          <a:p>
            <a:fld id="{1E2AE893-BA06-4F67-8C19-46525B8E0FBB}" type="slidenum">
              <a:rPr lang="en-IN" smtClean="0"/>
              <a:pPr/>
              <a:t>12</a:t>
            </a:fld>
            <a:endParaRPr lang="en-IN"/>
          </a:p>
        </p:txBody>
      </p:sp>
      <p:sp>
        <p:nvSpPr>
          <p:cNvPr id="6" name="Content Placeholder 5">
            <a:extLst>
              <a:ext uri="{FF2B5EF4-FFF2-40B4-BE49-F238E27FC236}">
                <a16:creationId xmlns:a16="http://schemas.microsoft.com/office/drawing/2014/main" id="{0E847C00-B06C-4DC0-A36B-79D8CD84EE9A}"/>
              </a:ext>
            </a:extLst>
          </p:cNvPr>
          <p:cNvSpPr>
            <a:spLocks noGrp="1"/>
          </p:cNvSpPr>
          <p:nvPr>
            <p:ph idx="1"/>
          </p:nvPr>
        </p:nvSpPr>
        <p:spPr/>
        <p:txBody>
          <a:bodyPr/>
          <a:lstStyle/>
          <a:p>
            <a:r>
              <a:rPr lang="en-US" dirty="0"/>
              <a:t>The AI-Assisted Lead Qualification System:</a:t>
            </a:r>
          </a:p>
          <a:p>
            <a:pPr marL="203400" lvl="1" indent="0">
              <a:buNone/>
            </a:pPr>
            <a:r>
              <a:rPr lang="en-US" sz="2400" dirty="0"/>
              <a:t>• Reduces manual effort in screening leads</a:t>
            </a:r>
            <a:br>
              <a:rPr lang="en-US" sz="2400" dirty="0"/>
            </a:br>
            <a:r>
              <a:rPr lang="en-US" sz="2400" dirty="0"/>
              <a:t>• Eliminates response latency</a:t>
            </a:r>
            <a:br>
              <a:rPr lang="en-US" sz="2400" dirty="0"/>
            </a:br>
            <a:r>
              <a:rPr lang="en-US" sz="2400" dirty="0"/>
              <a:t>• Improves decision clarity</a:t>
            </a:r>
            <a:br>
              <a:rPr lang="en-US" sz="2400" dirty="0"/>
            </a:br>
            <a:r>
              <a:rPr lang="en-US" sz="2400" dirty="0"/>
              <a:t>• Introduces explainable AI-based scoring</a:t>
            </a:r>
            <a:br>
              <a:rPr lang="en-US" sz="2400" dirty="0"/>
            </a:br>
            <a:r>
              <a:rPr lang="en-US" sz="2400" dirty="0"/>
              <a:t>• Maintains structured lifecycle management</a:t>
            </a:r>
          </a:p>
          <a:p>
            <a:pPr marL="203400" lvl="1" indent="0">
              <a:buNone/>
            </a:pPr>
            <a:endParaRPr lang="en-US" sz="2400" dirty="0"/>
          </a:p>
          <a:p>
            <a:pPr marL="0" indent="0">
              <a:buNone/>
            </a:pPr>
            <a:r>
              <a:rPr lang="en-US" dirty="0"/>
              <a:t>Overall, the system provides a scalable and intelligent sales automation solution.</a:t>
            </a:r>
          </a:p>
        </p:txBody>
      </p:sp>
    </p:spTree>
    <p:extLst>
      <p:ext uri="{BB962C8B-B14F-4D97-AF65-F5344CB8AC3E}">
        <p14:creationId xmlns:p14="http://schemas.microsoft.com/office/powerpoint/2010/main" val="4028210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49741-AEF5-CE96-ED62-2B0EAFB4DD10}"/>
              </a:ext>
            </a:extLst>
          </p:cNvPr>
          <p:cNvSpPr>
            <a:spLocks noGrp="1"/>
          </p:cNvSpPr>
          <p:nvPr>
            <p:ph type="title"/>
          </p:nvPr>
        </p:nvSpPr>
        <p:spPr/>
        <p:txBody>
          <a:bodyPr/>
          <a:lstStyle/>
          <a:p>
            <a:r>
              <a:rPr lang="en-US" dirty="0"/>
              <a:t>Future Scope:</a:t>
            </a:r>
            <a:endParaRPr lang="en-IN" dirty="0"/>
          </a:p>
        </p:txBody>
      </p:sp>
      <p:sp>
        <p:nvSpPr>
          <p:cNvPr id="3" name="Content Placeholder 2">
            <a:extLst>
              <a:ext uri="{FF2B5EF4-FFF2-40B4-BE49-F238E27FC236}">
                <a16:creationId xmlns:a16="http://schemas.microsoft.com/office/drawing/2014/main" id="{B48DBC77-8809-D179-B536-B382DE00BE6C}"/>
              </a:ext>
            </a:extLst>
          </p:cNvPr>
          <p:cNvSpPr>
            <a:spLocks noGrp="1"/>
          </p:cNvSpPr>
          <p:nvPr>
            <p:ph idx="1"/>
          </p:nvPr>
        </p:nvSpPr>
        <p:spPr/>
        <p:txBody>
          <a:bodyPr/>
          <a:lstStyle/>
          <a:p>
            <a:pPr marL="0" indent="0">
              <a:buNone/>
            </a:pPr>
            <a:r>
              <a:rPr lang="en-US" dirty="0"/>
              <a:t>• CRM system integration</a:t>
            </a:r>
            <a:br>
              <a:rPr lang="en-US" dirty="0"/>
            </a:br>
            <a:r>
              <a:rPr lang="en-US" dirty="0"/>
              <a:t>• WhatsApp / SMS automation</a:t>
            </a:r>
            <a:br>
              <a:rPr lang="en-US" dirty="0"/>
            </a:br>
            <a:r>
              <a:rPr lang="en-US" dirty="0"/>
              <a:t>• Reinforcement learning-based scoring refinement</a:t>
            </a:r>
            <a:br>
              <a:rPr lang="en-US" dirty="0"/>
            </a:br>
            <a:r>
              <a:rPr lang="en-US" dirty="0"/>
              <a:t>• Real-time analytics dashboard</a:t>
            </a:r>
            <a:br>
              <a:rPr lang="en-US" dirty="0"/>
            </a:br>
            <a:r>
              <a:rPr lang="en-US" dirty="0"/>
              <a:t>• AI confidence scoring improvements</a:t>
            </a:r>
            <a:endParaRPr lang="en-IN" dirty="0"/>
          </a:p>
        </p:txBody>
      </p:sp>
      <p:sp>
        <p:nvSpPr>
          <p:cNvPr id="4" name="Footer Placeholder 3">
            <a:extLst>
              <a:ext uri="{FF2B5EF4-FFF2-40B4-BE49-F238E27FC236}">
                <a16:creationId xmlns:a16="http://schemas.microsoft.com/office/drawing/2014/main" id="{98DE327B-F339-BD8E-7A80-AB7A8C965587}"/>
              </a:ext>
            </a:extLst>
          </p:cNvPr>
          <p:cNvSpPr>
            <a:spLocks noGrp="1"/>
          </p:cNvSpPr>
          <p:nvPr>
            <p:ph type="ftr" sz="quarter" idx="11"/>
          </p:nvPr>
        </p:nvSpPr>
        <p:spPr/>
        <p:txBody>
          <a:bodyPr/>
          <a:lstStyle/>
          <a:p>
            <a:r>
              <a:rPr lang="en-IN"/>
              <a:t>Mini Project Topic Approval</a:t>
            </a:r>
          </a:p>
        </p:txBody>
      </p:sp>
      <p:sp>
        <p:nvSpPr>
          <p:cNvPr id="5" name="Slide Number Placeholder 4">
            <a:extLst>
              <a:ext uri="{FF2B5EF4-FFF2-40B4-BE49-F238E27FC236}">
                <a16:creationId xmlns:a16="http://schemas.microsoft.com/office/drawing/2014/main" id="{6D40A854-9BB1-72FE-D559-ED41A8996D54}"/>
              </a:ext>
            </a:extLst>
          </p:cNvPr>
          <p:cNvSpPr>
            <a:spLocks noGrp="1"/>
          </p:cNvSpPr>
          <p:nvPr>
            <p:ph type="sldNum" sz="quarter" idx="12"/>
          </p:nvPr>
        </p:nvSpPr>
        <p:spPr/>
        <p:txBody>
          <a:bodyPr/>
          <a:lstStyle/>
          <a:p>
            <a:fld id="{1E2AE893-BA06-4F67-8C19-46525B8E0FBB}" type="slidenum">
              <a:rPr lang="en-IN" smtClean="0"/>
              <a:pPr/>
              <a:t>13</a:t>
            </a:fld>
            <a:endParaRPr lang="en-IN"/>
          </a:p>
        </p:txBody>
      </p:sp>
    </p:spTree>
    <p:extLst>
      <p:ext uri="{BB962C8B-B14F-4D97-AF65-F5344CB8AC3E}">
        <p14:creationId xmlns:p14="http://schemas.microsoft.com/office/powerpoint/2010/main" val="2747410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6B386-ECE9-44F7-990B-A3788E69C104}"/>
              </a:ext>
            </a:extLst>
          </p:cNvPr>
          <p:cNvSpPr>
            <a:spLocks noGrp="1"/>
          </p:cNvSpPr>
          <p:nvPr>
            <p:ph type="title"/>
          </p:nvPr>
        </p:nvSpPr>
        <p:spPr/>
        <p:txBody>
          <a:bodyPr/>
          <a:lstStyle/>
          <a:p>
            <a:r>
              <a:rPr lang="en-IN" dirty="0"/>
              <a:t>Research &amp; References:</a:t>
            </a:r>
          </a:p>
        </p:txBody>
      </p:sp>
      <p:sp>
        <p:nvSpPr>
          <p:cNvPr id="3" name="Content Placeholder 2">
            <a:extLst>
              <a:ext uri="{FF2B5EF4-FFF2-40B4-BE49-F238E27FC236}">
                <a16:creationId xmlns:a16="http://schemas.microsoft.com/office/drawing/2014/main" id="{7B8CD2C9-1DA3-473E-B8CD-3C5E765FDE49}"/>
              </a:ext>
            </a:extLst>
          </p:cNvPr>
          <p:cNvSpPr>
            <a:spLocks noGrp="1"/>
          </p:cNvSpPr>
          <p:nvPr>
            <p:ph idx="1"/>
          </p:nvPr>
        </p:nvSpPr>
        <p:spPr/>
        <p:txBody>
          <a:bodyPr/>
          <a:lstStyle/>
          <a:p>
            <a:pPr marL="0" indent="0">
              <a:buNone/>
            </a:pPr>
            <a:r>
              <a:rPr lang="en-US" dirty="0"/>
              <a:t>• Automatic Lead Qualification using Opinion Mining (2025)</a:t>
            </a:r>
            <a:br>
              <a:rPr lang="en-US" dirty="0"/>
            </a:br>
            <a:r>
              <a:rPr lang="en-US" dirty="0"/>
              <a:t>• AI-Driven Sales Automation (2025)</a:t>
            </a:r>
            <a:br>
              <a:rPr lang="en-US" dirty="0"/>
            </a:br>
            <a:r>
              <a:rPr lang="en-US" dirty="0"/>
              <a:t>• Optimizing Sales Automation Workflows with AI (2025)</a:t>
            </a:r>
            <a:endParaRPr lang="en-IN" dirty="0"/>
          </a:p>
        </p:txBody>
      </p:sp>
      <p:sp>
        <p:nvSpPr>
          <p:cNvPr id="4" name="Footer Placeholder 3">
            <a:extLst>
              <a:ext uri="{FF2B5EF4-FFF2-40B4-BE49-F238E27FC236}">
                <a16:creationId xmlns:a16="http://schemas.microsoft.com/office/drawing/2014/main" id="{9EAFF98F-B10F-4E62-9641-76F2DB6024F9}"/>
              </a:ext>
            </a:extLst>
          </p:cNvPr>
          <p:cNvSpPr>
            <a:spLocks noGrp="1"/>
          </p:cNvSpPr>
          <p:nvPr>
            <p:ph type="ftr" sz="quarter" idx="11"/>
          </p:nvPr>
        </p:nvSpPr>
        <p:spPr/>
        <p:txBody>
          <a:bodyPr/>
          <a:lstStyle/>
          <a:p>
            <a:r>
              <a:rPr lang="en-IN"/>
              <a:t>Mini Project Topic Approval</a:t>
            </a:r>
          </a:p>
        </p:txBody>
      </p:sp>
      <p:sp>
        <p:nvSpPr>
          <p:cNvPr id="5" name="Slide Number Placeholder 4">
            <a:extLst>
              <a:ext uri="{FF2B5EF4-FFF2-40B4-BE49-F238E27FC236}">
                <a16:creationId xmlns:a16="http://schemas.microsoft.com/office/drawing/2014/main" id="{FC39D44E-8015-439B-9485-B161B669AB8E}"/>
              </a:ext>
            </a:extLst>
          </p:cNvPr>
          <p:cNvSpPr>
            <a:spLocks noGrp="1"/>
          </p:cNvSpPr>
          <p:nvPr>
            <p:ph type="sldNum" sz="quarter" idx="12"/>
          </p:nvPr>
        </p:nvSpPr>
        <p:spPr/>
        <p:txBody>
          <a:bodyPr/>
          <a:lstStyle/>
          <a:p>
            <a:fld id="{1E2AE893-BA06-4F67-8C19-46525B8E0FBB}" type="slidenum">
              <a:rPr lang="en-IN" smtClean="0"/>
              <a:pPr/>
              <a:t>14</a:t>
            </a:fld>
            <a:endParaRPr lang="en-IN"/>
          </a:p>
        </p:txBody>
      </p:sp>
    </p:spTree>
    <p:extLst>
      <p:ext uri="{BB962C8B-B14F-4D97-AF65-F5344CB8AC3E}">
        <p14:creationId xmlns:p14="http://schemas.microsoft.com/office/powerpoint/2010/main" val="9571157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3578</TotalTime>
  <Words>678</Words>
  <Application>Microsoft Office PowerPoint</Application>
  <PresentationFormat>Widescreen</PresentationFormat>
  <Paragraphs>102</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Courier New</vt:lpstr>
      <vt:lpstr>Times New Roman</vt:lpstr>
      <vt:lpstr>Office Theme</vt:lpstr>
      <vt:lpstr>PowerPoint Presentation</vt:lpstr>
      <vt:lpstr>Introduction:</vt:lpstr>
      <vt:lpstr>Sustainable Development Goal:</vt:lpstr>
      <vt:lpstr>Literature Survey:</vt:lpstr>
      <vt:lpstr>Problem Statement and Objectives:</vt:lpstr>
      <vt:lpstr>   Objectives:</vt:lpstr>
      <vt:lpstr>Proposed Structure:</vt:lpstr>
      <vt:lpstr>Methodology:</vt:lpstr>
      <vt:lpstr>Experimental Setup:</vt:lpstr>
      <vt:lpstr>Implementation:</vt:lpstr>
      <vt:lpstr>PowerPoint Presentation</vt:lpstr>
      <vt:lpstr>Conclusion:</vt:lpstr>
      <vt:lpstr>Future Scope:</vt:lpstr>
      <vt:lpstr>Research &amp;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makarand</dc:creator>
  <cp:lastModifiedBy>Makarand Panchal</cp:lastModifiedBy>
  <cp:revision>48</cp:revision>
  <dcterms:created xsi:type="dcterms:W3CDTF">2026-01-11T10:28:42Z</dcterms:created>
  <dcterms:modified xsi:type="dcterms:W3CDTF">2026-03-20T07:15:55Z</dcterms:modified>
</cp:coreProperties>
</file>